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78" r:id="rId3"/>
    <p:sldId id="279" r:id="rId4"/>
    <p:sldId id="297" r:id="rId5"/>
    <p:sldId id="258" r:id="rId6"/>
    <p:sldId id="260" r:id="rId7"/>
    <p:sldId id="261" r:id="rId8"/>
    <p:sldId id="262" r:id="rId9"/>
    <p:sldId id="264" r:id="rId10"/>
    <p:sldId id="265" r:id="rId11"/>
    <p:sldId id="268" r:id="rId12"/>
    <p:sldId id="266" r:id="rId13"/>
    <p:sldId id="269" r:id="rId14"/>
    <p:sldId id="270" r:id="rId15"/>
    <p:sldId id="271" r:id="rId16"/>
    <p:sldId id="267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3" r:id="rId29"/>
    <p:sldId id="294" r:id="rId30"/>
    <p:sldId id="295" r:id="rId31"/>
    <p:sldId id="296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5C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24" autoAdjust="0"/>
    <p:restoredTop sz="94660"/>
  </p:normalViewPr>
  <p:slideViewPr>
    <p:cSldViewPr>
      <p:cViewPr varScale="1">
        <p:scale>
          <a:sx n="80" d="100"/>
          <a:sy n="80" d="100"/>
        </p:scale>
        <p:origin x="819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orchelsen" userId="2c0a0f887589795c" providerId="LiveId" clId="{3B0E2FF3-5D33-4477-821B-B91B36053DAB}"/>
    <pc:docChg chg="modSld">
      <pc:chgData name="Rafael Torchelsen" userId="2c0a0f887589795c" providerId="LiveId" clId="{3B0E2FF3-5D33-4477-821B-B91B36053DAB}" dt="2025-10-09T18:37:31" v="10" actId="1076"/>
      <pc:docMkLst>
        <pc:docMk/>
      </pc:docMkLst>
      <pc:sldChg chg="modSp mod">
        <pc:chgData name="Rafael Torchelsen" userId="2c0a0f887589795c" providerId="LiveId" clId="{3B0E2FF3-5D33-4477-821B-B91B36053DAB}" dt="2025-10-09T18:37:31" v="10" actId="1076"/>
        <pc:sldMkLst>
          <pc:docMk/>
          <pc:sldMk cId="1273584189" sldId="266"/>
        </pc:sldMkLst>
        <pc:spChg chg="mod">
          <ac:chgData name="Rafael Torchelsen" userId="2c0a0f887589795c" providerId="LiveId" clId="{3B0E2FF3-5D33-4477-821B-B91B36053DAB}" dt="2025-10-09T18:37:26.391" v="9" actId="14100"/>
          <ac:spMkLst>
            <pc:docMk/>
            <pc:sldMk cId="1273584189" sldId="266"/>
            <ac:spMk id="4" creationId="{00000000-0000-0000-0000-000000000000}"/>
          </ac:spMkLst>
        </pc:spChg>
        <pc:spChg chg="mod">
          <ac:chgData name="Rafael Torchelsen" userId="2c0a0f887589795c" providerId="LiveId" clId="{3B0E2FF3-5D33-4477-821B-B91B36053DAB}" dt="2025-10-09T18:37:31" v="10" actId="1076"/>
          <ac:spMkLst>
            <pc:docMk/>
            <pc:sldMk cId="1273584189" sldId="266"/>
            <ac:spMk id="5" creationId="{00000000-0000-0000-0000-000000000000}"/>
          </ac:spMkLst>
        </pc:spChg>
        <pc:spChg chg="mod">
          <ac:chgData name="Rafael Torchelsen" userId="2c0a0f887589795c" providerId="LiveId" clId="{3B0E2FF3-5D33-4477-821B-B91B36053DAB}" dt="2025-10-09T18:37:31" v="10" actId="1076"/>
          <ac:spMkLst>
            <pc:docMk/>
            <pc:sldMk cId="1273584189" sldId="26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C57B6-D9C4-425B-921C-9F8568FEF6FB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5C435-8526-47F9-8563-E7CC1D4638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688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lang="pt-BR" sz="4900" b="1" kern="1200" dirty="0" smtClean="0">
                <a:solidFill>
                  <a:schemeClr val="tx1"/>
                </a:solidFill>
                <a:effectLst>
                  <a:glow rad="63500">
                    <a:schemeClr val="bg1">
                      <a:lumMod val="50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4581128"/>
            <a:ext cx="8534400" cy="1057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pt-BR" sz="20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9" name="Imagem 12" descr="ufpel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5876" y="141635"/>
            <a:ext cx="1344149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m 9" descr="cdtec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7296" y="332659"/>
            <a:ext cx="2708240" cy="6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7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44016"/>
            <a:ext cx="8737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pt-BR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marL="0" lv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844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891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43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685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238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833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237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215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046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453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-27384"/>
            <a:ext cx="9534424" cy="114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D49D7-BA06-42C7-8DBA-6EF632F706D9}" type="datetimeFigureOut">
              <a:rPr lang="pt-BR" smtClean="0"/>
              <a:t>09/10/2025</a:t>
            </a:fld>
            <a:endParaRPr lang="pt-BR" dirty="0"/>
          </a:p>
        </p:txBody>
      </p:sp>
      <p:sp>
        <p:nvSpPr>
          <p:cNvPr id="11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14" name="Imagem 13" descr="computacao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0365" y="124326"/>
            <a:ext cx="3264363" cy="10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2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Futura Md BT" panose="020B0602020204020303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c+precedence+table&amp;tbm=isch&amp;ved=2ahUKEwigjKCOo63sAhV_K7kGHc6YCnAQ2-cCegQIABAA&amp;oq=c+precedence+table&amp;gs_lcp=CgNpbWcQAzIECAAQEzIECAAQEzIICAAQBxAeEBMyCAgAEAgQHhATMggIABAIEB4QEzIICAAQCBAeEBMyCAgAEAgQHhATOgYIABAHEB46CAgAEAgQBxAeUJ4zWMFCYNFEaABwAHgAgAGZAYgB5wmSAQQwLjEwmAEAoAEBqgELZ3dzLXdpei1pbWfAAQE&amp;sclient=img&amp;ei=_1yDX-CQGP_W5OUPzrGqgAc&amp;bih=1299&amp;biw=2560&amp;client=firefox-b-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malloc+c" TargetMode="External"/><Relationship Id="rId2" Type="http://schemas.openxmlformats.org/officeDocument/2006/relationships/hyperlink" Target="https://www.youtube.com/results?search_query=stack+heap+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user/progdescomplicada/playlis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09800" y="234888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Estrutura de Dados I</a:t>
            </a:r>
            <a:br>
              <a:rPr lang="pt-BR" sz="5400" dirty="0"/>
            </a:br>
            <a:r>
              <a:rPr lang="pt-BR" dirty="0"/>
              <a:t>Hoje: Alocação dinâmica de memória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95600" y="4534272"/>
            <a:ext cx="6400800" cy="1752600"/>
          </a:xfrm>
        </p:spPr>
        <p:txBody>
          <a:bodyPr>
            <a:normAutofit/>
          </a:bodyPr>
          <a:lstStyle/>
          <a:p>
            <a:r>
              <a:rPr lang="pt-BR" sz="2800" dirty="0"/>
              <a:t>Prof. Dr. Rafael P. Torchelsen</a:t>
            </a:r>
          </a:p>
          <a:p>
            <a:r>
              <a:rPr lang="pt-BR" sz="2400"/>
              <a:t>rafael.torchelsen@inf.ufpel.edu.br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5094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Memória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400" b="1" dirty="0"/>
              <a:t>Motivação:</a:t>
            </a:r>
          </a:p>
          <a:p>
            <a:pPr lvl="1"/>
            <a:r>
              <a:rPr lang="pt-BR" sz="2400" dirty="0"/>
              <a:t>Nossos programas </a:t>
            </a:r>
            <a:r>
              <a:rPr lang="pt-BR" sz="2400" u="sng" dirty="0">
                <a:solidFill>
                  <a:schemeClr val="accent2"/>
                </a:solidFill>
              </a:rPr>
              <a:t>pré-fixavam</a:t>
            </a:r>
            <a:r>
              <a:rPr lang="pt-BR" sz="2400" dirty="0"/>
              <a:t> o número de variáveis a serem utilizadas.</a:t>
            </a:r>
          </a:p>
          <a:p>
            <a:pPr lvl="1"/>
            <a:r>
              <a:rPr lang="pt-BR" sz="2400" dirty="0"/>
              <a:t>No caso de </a:t>
            </a:r>
            <a:r>
              <a:rPr lang="pt-BR" sz="2400" u="sng" dirty="0">
                <a:solidFill>
                  <a:schemeClr val="accent2"/>
                </a:solidFill>
              </a:rPr>
              <a:t>vetores</a:t>
            </a:r>
            <a:r>
              <a:rPr lang="pt-BR" sz="2400" dirty="0"/>
              <a:t> e </a:t>
            </a:r>
            <a:r>
              <a:rPr lang="pt-BR" sz="2400" u="sng" dirty="0">
                <a:solidFill>
                  <a:schemeClr val="accent2"/>
                </a:solidFill>
              </a:rPr>
              <a:t>matrizes</a:t>
            </a:r>
            <a:r>
              <a:rPr lang="pt-BR" sz="2400" dirty="0"/>
              <a:t> o tamanho era fixado como sendo um </a:t>
            </a:r>
            <a:r>
              <a:rPr lang="pt-BR" sz="2400" u="sng" dirty="0">
                <a:solidFill>
                  <a:schemeClr val="accent2"/>
                </a:solidFill>
              </a:rPr>
              <a:t>limitante superior</a:t>
            </a:r>
            <a:r>
              <a:rPr lang="pt-BR" sz="2400" dirty="0"/>
              <a:t> previsto </a:t>
            </a:r>
            <a:r>
              <a:rPr lang="pt-BR" sz="2400" dirty="0">
                <a:solidFill>
                  <a:srgbClr val="A50021"/>
                </a:solidFill>
              </a:rPr>
              <a:t>(constante)</a:t>
            </a:r>
            <a:r>
              <a:rPr lang="pt-BR" sz="2400" dirty="0"/>
              <a:t>.</a:t>
            </a:r>
          </a:p>
          <a:p>
            <a:pPr lvl="2"/>
            <a:r>
              <a:rPr lang="pt-BR" sz="2000" b="1" dirty="0">
                <a:solidFill>
                  <a:srgbClr val="CC0000"/>
                </a:solidFill>
              </a:rPr>
              <a:t>Desperdício de memória.</a:t>
            </a:r>
          </a:p>
          <a:p>
            <a:pPr lvl="1"/>
            <a:r>
              <a:rPr lang="pt-BR" sz="2400" dirty="0"/>
              <a:t>Variáveis locais são armazenadas em uma parte da memória chamada </a:t>
            </a:r>
            <a:r>
              <a:rPr lang="pt-BR" sz="2400" u="sng" dirty="0">
                <a:solidFill>
                  <a:schemeClr val="accent2"/>
                </a:solidFill>
              </a:rPr>
              <a:t>pilha</a:t>
            </a:r>
            <a:r>
              <a:rPr lang="pt-BR" sz="2400" dirty="0"/>
              <a:t> (ou </a:t>
            </a:r>
            <a:r>
              <a:rPr lang="pt-BR" sz="2400" dirty="0" err="1"/>
              <a:t>stack</a:t>
            </a:r>
            <a:r>
              <a:rPr lang="pt-BR" sz="2400" dirty="0"/>
              <a:t>), com </a:t>
            </a:r>
            <a:r>
              <a:rPr lang="pt-BR" sz="2400" u="sng" dirty="0">
                <a:solidFill>
                  <a:schemeClr val="accent2"/>
                </a:solidFill>
              </a:rPr>
              <a:t>espaço limitado</a:t>
            </a:r>
            <a:r>
              <a:rPr lang="pt-BR" sz="2400" dirty="0"/>
              <a:t>.</a:t>
            </a:r>
          </a:p>
          <a:p>
            <a:pPr lvl="2"/>
            <a:r>
              <a:rPr lang="pt-BR" sz="2000" b="1" dirty="0" err="1">
                <a:solidFill>
                  <a:srgbClr val="CC0000"/>
                </a:solidFill>
              </a:rPr>
              <a:t>Ex</a:t>
            </a:r>
            <a:r>
              <a:rPr lang="pt-BR" sz="2000" b="1" dirty="0">
                <a:solidFill>
                  <a:srgbClr val="CC0000"/>
                </a:solidFill>
              </a:rPr>
              <a:t>: Insuficiente para armazenar vetores grandes.</a:t>
            </a:r>
          </a:p>
          <a:p>
            <a:pPr lvl="2"/>
            <a:r>
              <a:rPr lang="pt-BR" sz="2000" dirty="0"/>
              <a:t>Memória alocada na pilha é armazenada seguindo o conceito de primeiro a entrar último a sair, ou seja a primeira alocação nessa região é a última a ser liberada. Por exemplo, a primeira variável alocada vai ficar na memória até que todas as outras armazenadas na pilha sejam liberadas </a:t>
            </a:r>
          </a:p>
          <a:p>
            <a:pPr lvl="1"/>
            <a:r>
              <a:rPr lang="pt-BR" dirty="0"/>
              <a:t>Existe um projeto de aprimoramento da linguagem C para alocar vetores e matrizes com tamanho dinâmico, porém as variáveis são colocadas na pilha, com todas as vantagens e desvantagens disso</a:t>
            </a:r>
          </a:p>
          <a:p>
            <a:pPr lvl="2"/>
            <a:r>
              <a:rPr lang="pt-BR" dirty="0"/>
              <a:t>http://en.wikipedia.org/wiki/C99</a:t>
            </a:r>
          </a:p>
          <a:p>
            <a:pPr lvl="2"/>
            <a:endParaRPr lang="pt-BR" sz="2000" b="1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9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Memória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Motivação:</a:t>
            </a:r>
          </a:p>
          <a:p>
            <a:pPr lvl="1"/>
            <a:r>
              <a:rPr lang="pt-BR" sz="2400" dirty="0"/>
              <a:t>Existe uma parte da memória para alocação dinâmica chamada </a:t>
            </a:r>
            <a:r>
              <a:rPr lang="pt-BR" sz="2400" u="sng" dirty="0" err="1">
                <a:solidFill>
                  <a:schemeClr val="accent2"/>
                </a:solidFill>
              </a:rPr>
              <a:t>heap</a:t>
            </a:r>
            <a:r>
              <a:rPr lang="pt-BR" sz="2400" dirty="0"/>
              <a:t> que contém </a:t>
            </a:r>
            <a:r>
              <a:rPr lang="pt-BR" sz="2400" u="sng" dirty="0">
                <a:solidFill>
                  <a:schemeClr val="accent2"/>
                </a:solidFill>
              </a:rPr>
              <a:t>toda</a:t>
            </a:r>
            <a:r>
              <a:rPr lang="pt-BR" sz="2400" dirty="0"/>
              <a:t> memória </a:t>
            </a:r>
            <a:r>
              <a:rPr lang="pt-BR" sz="2400" u="sng" dirty="0">
                <a:solidFill>
                  <a:schemeClr val="accent2"/>
                </a:solidFill>
              </a:rPr>
              <a:t>disponível</a:t>
            </a:r>
            <a:r>
              <a:rPr lang="pt-BR" sz="2400" dirty="0"/>
              <a:t>, não reservada para outras finalidades.</a:t>
            </a:r>
          </a:p>
          <a:p>
            <a:pPr lvl="1"/>
            <a:r>
              <a:rPr lang="pt-BR" sz="2400" dirty="0"/>
              <a:t>C permite alocar </a:t>
            </a:r>
            <a:r>
              <a:rPr lang="pt-BR" sz="2400" dirty="0">
                <a:solidFill>
                  <a:srgbClr val="A50021"/>
                </a:solidFill>
              </a:rPr>
              <a:t>(reservar)</a:t>
            </a:r>
            <a:r>
              <a:rPr lang="pt-BR" sz="2400" dirty="0"/>
              <a:t> espaço de memória de tamanho </a:t>
            </a:r>
            <a:r>
              <a:rPr lang="pt-BR" sz="2400" u="sng" dirty="0">
                <a:solidFill>
                  <a:schemeClr val="accent2"/>
                </a:solidFill>
              </a:rPr>
              <a:t>arbitrário</a:t>
            </a:r>
            <a:r>
              <a:rPr lang="pt-BR" sz="2400" dirty="0"/>
              <a:t> no </a:t>
            </a:r>
            <a:r>
              <a:rPr lang="pt-BR" sz="2400" u="sng" dirty="0" err="1">
                <a:solidFill>
                  <a:schemeClr val="accent2"/>
                </a:solidFill>
              </a:rPr>
              <a:t>heap</a:t>
            </a:r>
            <a:r>
              <a:rPr lang="pt-BR" sz="2400" dirty="0"/>
              <a:t> em </a:t>
            </a:r>
            <a:r>
              <a:rPr lang="pt-BR" sz="2400" u="sng" dirty="0">
                <a:solidFill>
                  <a:schemeClr val="accent2"/>
                </a:solidFill>
              </a:rPr>
              <a:t>tempo de execução</a:t>
            </a:r>
            <a:r>
              <a:rPr lang="pt-BR" sz="2400" dirty="0"/>
              <a:t> tornando os programas mais </a:t>
            </a:r>
            <a:r>
              <a:rPr lang="pt-BR" sz="2400" u="sng" dirty="0">
                <a:solidFill>
                  <a:schemeClr val="accent2"/>
                </a:solidFill>
              </a:rPr>
              <a:t>flexíveis</a:t>
            </a:r>
            <a:r>
              <a:rPr lang="pt-BR" sz="2400" dirty="0"/>
              <a:t>.</a:t>
            </a:r>
          </a:p>
          <a:p>
            <a:pPr lvl="2"/>
            <a:r>
              <a:rPr lang="pt-BR" sz="2000" dirty="0"/>
              <a:t>Liberar o espaço utilizado por uma variável não depende da liberação de outra, como na </a:t>
            </a:r>
            <a:r>
              <a:rPr lang="pt-BR" sz="2000" dirty="0" err="1"/>
              <a:t>stack</a:t>
            </a:r>
            <a:r>
              <a:rPr lang="pt-BR" sz="2000" dirty="0"/>
              <a:t> (pilha de memória)</a:t>
            </a:r>
          </a:p>
          <a:p>
            <a:pPr lvl="1"/>
            <a:r>
              <a:rPr lang="pt-BR" sz="2400" dirty="0"/>
              <a:t>O acesso a memória alocada é realizada por meio de </a:t>
            </a:r>
            <a:r>
              <a:rPr lang="pt-BR" sz="2400" u="sng" dirty="0">
                <a:solidFill>
                  <a:schemeClr val="accent2"/>
                </a:solidFill>
              </a:rPr>
              <a:t>ponteiros</a:t>
            </a:r>
            <a:r>
              <a:rPr lang="pt-BR" sz="2400" dirty="0"/>
              <a:t>.</a:t>
            </a:r>
          </a:p>
          <a:p>
            <a:pPr lvl="2"/>
            <a:endParaRPr lang="pt-BR" b="1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68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simplificar por agora!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No próximo exemplo vamos considerar que só existe uma memória e que tudo é alocado lá.</a:t>
            </a:r>
          </a:p>
          <a:p>
            <a:pPr lvl="1"/>
            <a:r>
              <a:rPr lang="pt-BR" dirty="0"/>
              <a:t>Na verdade é assim mesmo fisicamente, mas não logicamente! Temos que trabalhar com ambos em mente se quisermos fazer tudo da melhor maneira possível.</a:t>
            </a:r>
          </a:p>
          <a:p>
            <a:pPr lvl="1"/>
            <a:r>
              <a:rPr lang="pt-BR" dirty="0"/>
              <a:t>Quando chegarem em Sistemas Operacionais entenderam como a memória é gerenciada entre diferentes tipos, programas, níveis de segurança, etc.</a:t>
            </a:r>
          </a:p>
          <a:p>
            <a:pPr lvl="1"/>
            <a:r>
              <a:rPr lang="pt-BR" dirty="0"/>
              <a:t>Vamos usar o modelo simplificado agora para facilitar o entendimento.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45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</a:t>
            </a:r>
            <a:r>
              <a:rPr lang="pt-BR" b="1" dirty="0"/>
              <a:t>Estática</a:t>
            </a:r>
            <a:r>
              <a:rPr lang="pt-BR" dirty="0"/>
              <a:t> de Memória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4583832" y="2060848"/>
            <a:ext cx="3168352" cy="37444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(){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>
                <a:solidFill>
                  <a:schemeClr val="accent6"/>
                </a:solidFill>
              </a:rPr>
              <a:t>notaAluno</a:t>
            </a:r>
            <a:r>
              <a:rPr lang="pt-BR" dirty="0">
                <a:solidFill>
                  <a:schemeClr val="accent6"/>
                </a:solidFill>
              </a:rPr>
              <a:t>[3]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  ...</a:t>
            </a:r>
          </a:p>
          <a:p>
            <a:r>
              <a:rPr lang="pt-BR" dirty="0"/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065097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tângulo de cantos arredondados 9"/>
          <p:cNvSpPr/>
          <p:nvPr/>
        </p:nvSpPr>
        <p:spPr>
          <a:xfrm>
            <a:off x="4295800" y="5877272"/>
            <a:ext cx="3744416" cy="86409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 se o número de alunos mudar durante a execução do programa? Só recompilado.</a:t>
            </a:r>
          </a:p>
        </p:txBody>
      </p:sp>
      <p:sp>
        <p:nvSpPr>
          <p:cNvPr id="3" name="Retângulo de cantos arredondados 2"/>
          <p:cNvSpPr/>
          <p:nvPr/>
        </p:nvSpPr>
        <p:spPr>
          <a:xfrm>
            <a:off x="8040216" y="2115864"/>
            <a:ext cx="2484276" cy="15291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 memória foi alocada antes mesmo do primeiro comando dentro do </a:t>
            </a:r>
            <a:r>
              <a:rPr lang="pt-BR" dirty="0" err="1"/>
              <a:t>main</a:t>
            </a:r>
            <a:r>
              <a:rPr lang="pt-BR" dirty="0"/>
              <a:t> ser executado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8033403" y="3797424"/>
            <a:ext cx="2484276" cy="19358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Essa região de memória fica reservada durante toda a execução do programa, mesmo que a variável </a:t>
            </a:r>
            <a:r>
              <a:rPr lang="pt-BR" dirty="0" err="1"/>
              <a:t>notaAluno</a:t>
            </a:r>
            <a:r>
              <a:rPr lang="pt-BR" dirty="0"/>
              <a:t> nunca seja utilizada</a:t>
            </a:r>
          </a:p>
        </p:txBody>
      </p:sp>
    </p:spTree>
    <p:extLst>
      <p:ext uri="{BB962C8B-B14F-4D97-AF65-F5344CB8AC3E}">
        <p14:creationId xmlns:p14="http://schemas.microsoft.com/office/powerpoint/2010/main" val="347493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</a:t>
            </a:r>
            <a:r>
              <a:rPr lang="pt-BR" b="1" dirty="0"/>
              <a:t>Dinâmica</a:t>
            </a:r>
            <a:r>
              <a:rPr lang="pt-BR" dirty="0"/>
              <a:t> de Memória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4511824" y="2086248"/>
            <a:ext cx="3456384" cy="37444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endParaRPr lang="pt-BR" sz="1600" dirty="0"/>
          </a:p>
          <a:p>
            <a:r>
              <a:rPr lang="pt-BR" sz="1600" dirty="0"/>
              <a:t>  </a:t>
            </a: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>
                <a:solidFill>
                  <a:schemeClr val="accent6"/>
                </a:solidFill>
              </a:rPr>
              <a:t>notaAluno</a:t>
            </a:r>
            <a:r>
              <a:rPr lang="pt-BR" sz="1600" dirty="0">
                <a:solidFill>
                  <a:schemeClr val="accent6"/>
                </a:solidFill>
              </a:rPr>
              <a:t>[3</a:t>
            </a:r>
            <a:r>
              <a:rPr lang="pt-BR" sz="1600" dirty="0"/>
              <a:t>];</a:t>
            </a:r>
          </a:p>
          <a:p>
            <a:endParaRPr lang="pt-BR" sz="1600" dirty="0"/>
          </a:p>
          <a:p>
            <a:r>
              <a:rPr lang="pt-BR" sz="1600" dirty="0"/>
              <a:t>  ...</a:t>
            </a:r>
          </a:p>
          <a:p>
            <a:r>
              <a:rPr lang="pt-BR" sz="1600" dirty="0"/>
              <a:t>  //numero de alunos mudou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>
                <a:solidFill>
                  <a:schemeClr val="accent6"/>
                </a:solidFill>
              </a:rPr>
              <a:t>notaAluno</a:t>
            </a:r>
            <a:r>
              <a:rPr lang="pt-BR" sz="1600" dirty="0">
                <a:solidFill>
                  <a:schemeClr val="accent6"/>
                </a:solidFill>
              </a:rPr>
              <a:t>[4]</a:t>
            </a:r>
            <a:r>
              <a:rPr lang="pt-BR" sz="1600" dirty="0"/>
              <a:t>; // ?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603338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tângulo de cantos arredondados 2"/>
          <p:cNvSpPr/>
          <p:nvPr/>
        </p:nvSpPr>
        <p:spPr>
          <a:xfrm>
            <a:off x="8040216" y="2115864"/>
            <a:ext cx="2484276" cy="15291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Como modificar o tamanho de um vetor?</a:t>
            </a:r>
          </a:p>
        </p:txBody>
      </p:sp>
      <p:cxnSp>
        <p:nvCxnSpPr>
          <p:cNvPr id="8" name="Conector reto 7"/>
          <p:cNvCxnSpPr/>
          <p:nvPr/>
        </p:nvCxnSpPr>
        <p:spPr>
          <a:xfrm>
            <a:off x="4799856" y="4581128"/>
            <a:ext cx="194421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3159410" y="3752987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672064" y="4941168"/>
            <a:ext cx="3168352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nNumAlunos</a:t>
            </a:r>
            <a:r>
              <a:rPr lang="pt-BR" dirty="0"/>
              <a:t>;</a:t>
            </a:r>
          </a:p>
          <a:p>
            <a:r>
              <a:rPr lang="pt-BR" dirty="0" err="1"/>
              <a:t>scanf</a:t>
            </a:r>
            <a:r>
              <a:rPr lang="pt-BR" dirty="0"/>
              <a:t>(“%d”,&amp;</a:t>
            </a:r>
            <a:r>
              <a:rPr lang="pt-BR" dirty="0" err="1"/>
              <a:t>nNumAlunos</a:t>
            </a:r>
            <a:r>
              <a:rPr lang="pt-BR" dirty="0"/>
              <a:t>);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notaAluno</a:t>
            </a:r>
            <a:r>
              <a:rPr lang="pt-BR" dirty="0"/>
              <a:t>[</a:t>
            </a:r>
            <a:r>
              <a:rPr lang="pt-BR" dirty="0" err="1"/>
              <a:t>nNumAlunos</a:t>
            </a:r>
            <a:r>
              <a:rPr lang="pt-BR" dirty="0"/>
              <a:t>];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6672064" y="4941168"/>
            <a:ext cx="3168352" cy="1800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 flipH="1">
            <a:off x="6672064" y="4941168"/>
            <a:ext cx="3168352" cy="1800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Retângulo de cantos arredondados 12"/>
          <p:cNvSpPr/>
          <p:nvPr/>
        </p:nvSpPr>
        <p:spPr>
          <a:xfrm>
            <a:off x="8040216" y="3753152"/>
            <a:ext cx="2484276" cy="1044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Gostaríamos que fosse assim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9048328" y="4509120"/>
            <a:ext cx="23402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1625657" y="3704974"/>
            <a:ext cx="1085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 é possível modificar 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495600" y="3991375"/>
            <a:ext cx="6599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07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</a:t>
            </a:r>
            <a:r>
              <a:rPr lang="pt-BR" b="1" dirty="0"/>
              <a:t>Dinâmica</a:t>
            </a:r>
            <a:r>
              <a:rPr lang="pt-BR" dirty="0"/>
              <a:t> de Memória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4511824" y="2086248"/>
            <a:ext cx="3456384" cy="37444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endParaRPr lang="pt-BR" sz="1600" dirty="0"/>
          </a:p>
          <a:p>
            <a:r>
              <a:rPr lang="pt-BR" sz="1600" dirty="0"/>
              <a:t>  </a:t>
            </a: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nNumAlunos</a:t>
            </a:r>
            <a:r>
              <a:rPr lang="pt-BR" sz="1600" dirty="0"/>
              <a:t>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scanf</a:t>
            </a:r>
            <a:r>
              <a:rPr lang="pt-BR" sz="1600" dirty="0"/>
              <a:t>(“%d”,&amp;</a:t>
            </a:r>
            <a:r>
              <a:rPr lang="pt-BR" sz="1600" dirty="0" err="1"/>
              <a:t>nNumAlunos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int</a:t>
            </a:r>
            <a:r>
              <a:rPr lang="pt-BR" sz="1600" dirty="0"/>
              <a:t> *</a:t>
            </a:r>
            <a:r>
              <a:rPr lang="pt-BR" sz="1600" dirty="0" err="1"/>
              <a:t>notaAlunos</a:t>
            </a:r>
            <a:r>
              <a:rPr lang="pt-BR" sz="1600" dirty="0"/>
              <a:t>;</a:t>
            </a:r>
          </a:p>
          <a:p>
            <a:r>
              <a:rPr lang="pt-BR" sz="1600" dirty="0"/>
              <a:t>  ...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88450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tângulo de cantos arredondados 2"/>
          <p:cNvSpPr/>
          <p:nvPr/>
        </p:nvSpPr>
        <p:spPr>
          <a:xfrm>
            <a:off x="8040216" y="2115864"/>
            <a:ext cx="2484276" cy="15291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Até agora não temos onde colocar as notas, não temos um endereço para </a:t>
            </a:r>
            <a:r>
              <a:rPr lang="pt-BR" dirty="0" err="1"/>
              <a:t>notaAlunos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354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</a:t>
            </a:r>
            <a:r>
              <a:rPr lang="pt-BR" b="1" dirty="0"/>
              <a:t>Dinâmica</a:t>
            </a:r>
            <a:r>
              <a:rPr lang="pt-BR" dirty="0"/>
              <a:t> de Memória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686174" y="2086248"/>
            <a:ext cx="4570066" cy="37444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endParaRPr lang="pt-BR" sz="1400" dirty="0"/>
          </a:p>
          <a:p>
            <a:r>
              <a:rPr lang="pt-BR" sz="1400" dirty="0"/>
              <a:t> 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nNumAlunos</a:t>
            </a:r>
            <a:r>
              <a:rPr lang="pt-BR" sz="1400" dirty="0"/>
              <a:t>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scanf</a:t>
            </a:r>
            <a:r>
              <a:rPr lang="pt-BR" sz="1400" dirty="0"/>
              <a:t>(“%d”,&amp;</a:t>
            </a:r>
            <a:r>
              <a:rPr lang="pt-BR" sz="1400" dirty="0" err="1"/>
              <a:t>nNumAlunos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int</a:t>
            </a:r>
            <a:r>
              <a:rPr lang="pt-BR" sz="1400" dirty="0"/>
              <a:t> *</a:t>
            </a:r>
            <a:r>
              <a:rPr lang="pt-BR" sz="1400" dirty="0" err="1"/>
              <a:t>notaAlunos</a:t>
            </a:r>
            <a:r>
              <a:rPr lang="pt-BR" sz="1400" dirty="0"/>
              <a:t>;</a:t>
            </a:r>
          </a:p>
          <a:p>
            <a:r>
              <a:rPr lang="pt-BR" sz="1400" b="1" dirty="0"/>
              <a:t>  </a:t>
            </a:r>
            <a:r>
              <a:rPr lang="pt-BR" sz="1400" b="1" dirty="0" err="1"/>
              <a:t>notaAlunos</a:t>
            </a:r>
            <a:r>
              <a:rPr lang="pt-BR" sz="1400" b="1" dirty="0"/>
              <a:t> = </a:t>
            </a:r>
            <a:r>
              <a:rPr lang="pt-BR" sz="1400" b="1" dirty="0" err="1"/>
              <a:t>malloc</a:t>
            </a:r>
            <a:r>
              <a:rPr lang="pt-BR" sz="1400" b="1" dirty="0"/>
              <a:t>(</a:t>
            </a:r>
            <a:r>
              <a:rPr lang="pt-BR" sz="1400" b="1" dirty="0" err="1"/>
              <a:t>sizeof</a:t>
            </a:r>
            <a:r>
              <a:rPr lang="pt-BR" sz="1400" b="1" dirty="0"/>
              <a:t>(</a:t>
            </a:r>
            <a:r>
              <a:rPr lang="pt-BR" sz="1400" b="1" dirty="0" err="1"/>
              <a:t>int</a:t>
            </a:r>
            <a:r>
              <a:rPr lang="pt-BR" sz="1400" b="1" dirty="0"/>
              <a:t>)*</a:t>
            </a:r>
            <a:r>
              <a:rPr lang="pt-BR" sz="1400" b="1" dirty="0" err="1"/>
              <a:t>nNumAlunos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...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415480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235520"/>
              </p:ext>
            </p:extLst>
          </p:nvPr>
        </p:nvGraphicFramePr>
        <p:xfrm>
          <a:off x="1780437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tângulo de cantos arredondados 2"/>
          <p:cNvSpPr/>
          <p:nvPr/>
        </p:nvSpPr>
        <p:spPr>
          <a:xfrm>
            <a:off x="8364252" y="2115864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notaAlunos</a:t>
            </a:r>
            <a:r>
              <a:rPr lang="pt-BR" dirty="0"/>
              <a:t> recebe um endereço de memória, como um ponteiro normal. Porém, esse endereço não pertence a outra variável</a:t>
            </a:r>
          </a:p>
        </p:txBody>
      </p:sp>
      <p:cxnSp>
        <p:nvCxnSpPr>
          <p:cNvPr id="8" name="Conector de seta reta 7"/>
          <p:cNvCxnSpPr/>
          <p:nvPr/>
        </p:nvCxnSpPr>
        <p:spPr>
          <a:xfrm flipH="1" flipV="1">
            <a:off x="3652645" y="2636913"/>
            <a:ext cx="432048" cy="1745609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2660271" y="2276872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660271" y="2765893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656366" y="3262620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364252" y="4517504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endereço é referente a um espaço de memória que acabou de ser reservado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4084694" y="5949280"/>
            <a:ext cx="3571819" cy="8174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Já vimos como utilizar um ponteiro que aponta para um vetor e através do ponteiro modificar o conteúdo do vetor. Isso é possível com </a:t>
            </a:r>
            <a:r>
              <a:rPr lang="pt-BR" sz="1400" dirty="0" err="1"/>
              <a:t>notaAlunos</a:t>
            </a:r>
            <a:endParaRPr lang="pt-BR" sz="1400" dirty="0"/>
          </a:p>
        </p:txBody>
      </p:sp>
      <p:cxnSp>
        <p:nvCxnSpPr>
          <p:cNvPr id="16" name="Conector reto 15"/>
          <p:cNvCxnSpPr/>
          <p:nvPr/>
        </p:nvCxnSpPr>
        <p:spPr>
          <a:xfrm>
            <a:off x="5020797" y="4517504"/>
            <a:ext cx="23762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tângulo de cantos arredondados 18"/>
          <p:cNvSpPr/>
          <p:nvPr/>
        </p:nvSpPr>
        <p:spPr>
          <a:xfrm>
            <a:off x="4218031" y="188640"/>
            <a:ext cx="6264696" cy="1744742"/>
          </a:xfrm>
          <a:prstGeom prst="round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4000" dirty="0" err="1"/>
              <a:t>void</a:t>
            </a:r>
            <a:r>
              <a:rPr lang="pt-BR" sz="4000" dirty="0"/>
              <a:t> *</a:t>
            </a:r>
            <a:r>
              <a:rPr lang="pt-BR" sz="4000" dirty="0" err="1"/>
              <a:t>malloc</a:t>
            </a:r>
            <a:r>
              <a:rPr lang="pt-BR" sz="4000" dirty="0"/>
              <a:t>(</a:t>
            </a:r>
            <a:r>
              <a:rPr lang="pt-BR" sz="4000" dirty="0" err="1"/>
              <a:t>size_t</a:t>
            </a:r>
            <a:r>
              <a:rPr lang="pt-BR" sz="4000" dirty="0"/>
              <a:t> </a:t>
            </a:r>
            <a:r>
              <a:rPr lang="pt-BR" sz="4000" dirty="0" err="1"/>
              <a:t>size</a:t>
            </a:r>
            <a:r>
              <a:rPr lang="pt-BR" sz="4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2165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9" grpId="0" animBg="1"/>
      <p:bldP spid="1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</a:t>
            </a:r>
            <a:r>
              <a:rPr lang="pt-BR" b="1" dirty="0"/>
              <a:t>Dinâmica</a:t>
            </a:r>
            <a:r>
              <a:rPr lang="pt-BR" dirty="0"/>
              <a:t> de Memória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686174" y="2086248"/>
            <a:ext cx="4570066" cy="37444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endParaRPr lang="pt-BR" sz="1400" dirty="0"/>
          </a:p>
          <a:p>
            <a:r>
              <a:rPr lang="pt-BR" sz="1400" dirty="0"/>
              <a:t> 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nNumAlunos</a:t>
            </a:r>
            <a:r>
              <a:rPr lang="pt-BR" sz="1400" dirty="0"/>
              <a:t>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scanf</a:t>
            </a:r>
            <a:r>
              <a:rPr lang="pt-BR" sz="1400" dirty="0"/>
              <a:t>(“%d”,&amp;</a:t>
            </a:r>
            <a:r>
              <a:rPr lang="pt-BR" sz="1400" dirty="0" err="1"/>
              <a:t>nNumAlunos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int</a:t>
            </a:r>
            <a:r>
              <a:rPr lang="pt-BR" sz="1400" dirty="0"/>
              <a:t> *</a:t>
            </a:r>
            <a:r>
              <a:rPr lang="pt-BR" sz="1400" dirty="0" err="1"/>
              <a:t>notaAlunos</a:t>
            </a:r>
            <a:r>
              <a:rPr lang="pt-BR" sz="1400" dirty="0"/>
              <a:t>;</a:t>
            </a:r>
          </a:p>
          <a:p>
            <a:r>
              <a:rPr lang="pt-BR" sz="1400" b="1" dirty="0"/>
              <a:t>  </a:t>
            </a:r>
            <a:r>
              <a:rPr lang="pt-BR" sz="1400" dirty="0" err="1"/>
              <a:t>notaAlunos</a:t>
            </a:r>
            <a:r>
              <a:rPr lang="pt-BR" sz="1400" dirty="0"/>
              <a:t> = </a:t>
            </a:r>
            <a:r>
              <a:rPr lang="pt-BR" sz="1400" dirty="0" err="1"/>
              <a:t>malloc</a:t>
            </a:r>
            <a:r>
              <a:rPr lang="pt-BR" sz="1400" dirty="0"/>
              <a:t>(</a:t>
            </a:r>
            <a:r>
              <a:rPr lang="pt-BR" sz="1400" dirty="0" err="1"/>
              <a:t>sizeof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)*</a:t>
            </a:r>
            <a:r>
              <a:rPr lang="pt-BR" sz="1400" dirty="0" err="1"/>
              <a:t>nNumAlunos</a:t>
            </a:r>
            <a:r>
              <a:rPr lang="pt-BR" sz="1400" dirty="0"/>
              <a:t>);</a:t>
            </a:r>
          </a:p>
          <a:p>
            <a:r>
              <a:rPr lang="pt-BR" sz="1400" dirty="0"/>
              <a:t>  ...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nNumAlunos</a:t>
            </a:r>
            <a:r>
              <a:rPr lang="pt-BR" sz="1400" dirty="0"/>
              <a:t> = 4;</a:t>
            </a:r>
          </a:p>
          <a:p>
            <a:r>
              <a:rPr lang="pt-BR" sz="1400" b="1" dirty="0"/>
              <a:t>  </a:t>
            </a:r>
            <a:r>
              <a:rPr lang="pt-BR" sz="1400" b="1" dirty="0" err="1"/>
              <a:t>notaAlunos</a:t>
            </a:r>
            <a:r>
              <a:rPr lang="pt-BR" sz="1400" b="1" dirty="0"/>
              <a:t> = </a:t>
            </a:r>
            <a:r>
              <a:rPr lang="pt-BR" sz="1400" b="1" dirty="0" err="1"/>
              <a:t>malloc</a:t>
            </a:r>
            <a:r>
              <a:rPr lang="pt-BR" sz="1400" b="1" dirty="0"/>
              <a:t>(</a:t>
            </a:r>
            <a:r>
              <a:rPr lang="pt-BR" sz="1400" b="1" dirty="0" err="1"/>
              <a:t>sizeof</a:t>
            </a:r>
            <a:r>
              <a:rPr lang="pt-BR" sz="1400" b="1" dirty="0"/>
              <a:t>(</a:t>
            </a:r>
            <a:r>
              <a:rPr lang="pt-BR" sz="1400" b="1" dirty="0" err="1"/>
              <a:t>int</a:t>
            </a:r>
            <a:r>
              <a:rPr lang="pt-BR" sz="1400" b="1" dirty="0"/>
              <a:t>)*</a:t>
            </a:r>
            <a:r>
              <a:rPr lang="pt-BR" sz="1400" b="1" dirty="0" err="1"/>
              <a:t>nNumAlunos</a:t>
            </a:r>
            <a:r>
              <a:rPr lang="pt-BR" sz="1400" b="1" dirty="0"/>
              <a:t>);</a:t>
            </a:r>
            <a:endParaRPr lang="pt-BR" sz="1400" dirty="0"/>
          </a:p>
          <a:p>
            <a:r>
              <a:rPr lang="pt-BR" sz="1400" dirty="0"/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415480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220893"/>
              </p:ext>
            </p:extLst>
          </p:nvPr>
        </p:nvGraphicFramePr>
        <p:xfrm>
          <a:off x="1780437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tângulo de cantos arredondados 2"/>
          <p:cNvSpPr/>
          <p:nvPr/>
        </p:nvSpPr>
        <p:spPr>
          <a:xfrm>
            <a:off x="8364252" y="2115864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Chamar o </a:t>
            </a:r>
            <a:r>
              <a:rPr lang="pt-BR" dirty="0" err="1"/>
              <a:t>malloc</a:t>
            </a:r>
            <a:r>
              <a:rPr lang="pt-BR" dirty="0"/>
              <a:t> novamente reserva um outro espaço de memória</a:t>
            </a:r>
          </a:p>
        </p:txBody>
      </p:sp>
      <p:cxnSp>
        <p:nvCxnSpPr>
          <p:cNvPr id="8" name="Conector de seta reta 7"/>
          <p:cNvCxnSpPr>
            <a:endCxn id="6" idx="3"/>
          </p:cNvCxnSpPr>
          <p:nvPr/>
        </p:nvCxnSpPr>
        <p:spPr>
          <a:xfrm flipH="1" flipV="1">
            <a:off x="3532294" y="4484486"/>
            <a:ext cx="364957" cy="25664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2660271" y="2276872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660271" y="2765893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656366" y="3262620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364252" y="4517504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Ao colocar o novo endereço no ponteiro utilizado anteriormente, como podemos acessar o espaço de memória anterior?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4084694" y="5949280"/>
            <a:ext cx="3571819" cy="8174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Não</a:t>
            </a:r>
            <a:r>
              <a:rPr lang="pt-BR" dirty="0"/>
              <a:t> podemos! Nunca devemos perder o endereço de memória!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2664725" y="4241148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2659057" y="4741130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2664563" y="5233404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2667931" y="5726391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36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Liberando Memória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686174" y="2086248"/>
            <a:ext cx="4570066" cy="37444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main</a:t>
            </a:r>
            <a:r>
              <a:rPr lang="pt-BR" sz="1400" dirty="0"/>
              <a:t>(){</a:t>
            </a:r>
          </a:p>
          <a:p>
            <a:endParaRPr lang="pt-BR" sz="1400" dirty="0"/>
          </a:p>
          <a:p>
            <a:r>
              <a:rPr lang="pt-BR" sz="1400" dirty="0"/>
              <a:t> 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nNumAlunos</a:t>
            </a:r>
            <a:r>
              <a:rPr lang="pt-BR" sz="1400" dirty="0"/>
              <a:t>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scanf</a:t>
            </a:r>
            <a:r>
              <a:rPr lang="pt-BR" sz="1400" dirty="0"/>
              <a:t>(“%d”,&amp;</a:t>
            </a:r>
            <a:r>
              <a:rPr lang="pt-BR" sz="1400" dirty="0" err="1"/>
              <a:t>nNumAlunos</a:t>
            </a:r>
            <a:r>
              <a:rPr lang="pt-BR" sz="1400" dirty="0"/>
              <a:t>);</a:t>
            </a:r>
          </a:p>
          <a:p>
            <a:r>
              <a:rPr lang="pt-BR" sz="1400" dirty="0"/>
              <a:t>  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int</a:t>
            </a:r>
            <a:r>
              <a:rPr lang="pt-BR" sz="1400" dirty="0"/>
              <a:t> *</a:t>
            </a:r>
            <a:r>
              <a:rPr lang="pt-BR" sz="1400" dirty="0" err="1"/>
              <a:t>notaAlunos</a:t>
            </a:r>
            <a:r>
              <a:rPr lang="pt-BR" sz="1400" dirty="0"/>
              <a:t>;</a:t>
            </a:r>
          </a:p>
          <a:p>
            <a:r>
              <a:rPr lang="pt-BR" sz="1400" b="1" dirty="0"/>
              <a:t>  </a:t>
            </a:r>
            <a:r>
              <a:rPr lang="pt-BR" sz="1400" dirty="0" err="1"/>
              <a:t>notaAlunos</a:t>
            </a:r>
            <a:r>
              <a:rPr lang="pt-BR" sz="1400" dirty="0"/>
              <a:t> = </a:t>
            </a:r>
            <a:r>
              <a:rPr lang="pt-BR" sz="1400" dirty="0" err="1"/>
              <a:t>malloc</a:t>
            </a:r>
            <a:r>
              <a:rPr lang="pt-BR" sz="1400" dirty="0"/>
              <a:t>(</a:t>
            </a:r>
            <a:r>
              <a:rPr lang="pt-BR" sz="1400" dirty="0" err="1"/>
              <a:t>sizeof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)*</a:t>
            </a:r>
            <a:r>
              <a:rPr lang="pt-BR" sz="1400" dirty="0" err="1"/>
              <a:t>nNumAlunos</a:t>
            </a:r>
            <a:r>
              <a:rPr lang="pt-BR" sz="1400" dirty="0"/>
              <a:t>);</a:t>
            </a:r>
          </a:p>
          <a:p>
            <a:r>
              <a:rPr lang="pt-BR" sz="1400" b="1" dirty="0"/>
              <a:t>  </a:t>
            </a:r>
            <a:r>
              <a:rPr lang="pt-BR" sz="1400" b="1" dirty="0" err="1"/>
              <a:t>free</a:t>
            </a:r>
            <a:r>
              <a:rPr lang="pt-BR" sz="1400" b="1" dirty="0"/>
              <a:t>(</a:t>
            </a:r>
            <a:r>
              <a:rPr lang="pt-BR" sz="1400" b="1" dirty="0" err="1"/>
              <a:t>notaAlunos</a:t>
            </a:r>
            <a:r>
              <a:rPr lang="pt-BR" sz="1400" b="1" dirty="0"/>
              <a:t>);</a:t>
            </a:r>
          </a:p>
          <a:p>
            <a:r>
              <a:rPr lang="pt-BR" sz="1400" dirty="0"/>
              <a:t>  ...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nNumAlunos</a:t>
            </a:r>
            <a:r>
              <a:rPr lang="pt-BR" sz="1400" dirty="0"/>
              <a:t> = 4;</a:t>
            </a:r>
          </a:p>
          <a:p>
            <a:r>
              <a:rPr lang="pt-BR" sz="1400" dirty="0"/>
              <a:t>  </a:t>
            </a:r>
            <a:r>
              <a:rPr lang="pt-BR" sz="1400" dirty="0" err="1"/>
              <a:t>notaAlunos</a:t>
            </a:r>
            <a:r>
              <a:rPr lang="pt-BR" sz="1400" dirty="0"/>
              <a:t> = </a:t>
            </a:r>
            <a:r>
              <a:rPr lang="pt-BR" sz="1400" dirty="0" err="1"/>
              <a:t>malloc</a:t>
            </a:r>
            <a:r>
              <a:rPr lang="pt-BR" sz="1400" dirty="0"/>
              <a:t>(</a:t>
            </a:r>
            <a:r>
              <a:rPr lang="pt-BR" sz="1400" dirty="0" err="1"/>
              <a:t>sizeof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)*</a:t>
            </a:r>
            <a:r>
              <a:rPr lang="pt-BR" sz="1400" dirty="0" err="1"/>
              <a:t>nNumAlunos</a:t>
            </a:r>
            <a:r>
              <a:rPr lang="pt-BR" sz="1400" dirty="0"/>
              <a:t>);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415480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019675"/>
              </p:ext>
            </p:extLst>
          </p:nvPr>
        </p:nvGraphicFramePr>
        <p:xfrm>
          <a:off x="1780437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tângulo de cantos arredondados 2"/>
          <p:cNvSpPr/>
          <p:nvPr/>
        </p:nvSpPr>
        <p:spPr>
          <a:xfrm>
            <a:off x="8364252" y="2115864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Como somos nós que alocamos a memória, somos nós que devemos libera-la!</a:t>
            </a:r>
          </a:p>
        </p:txBody>
      </p:sp>
      <p:cxnSp>
        <p:nvCxnSpPr>
          <p:cNvPr id="8" name="Conector de seta reta 7"/>
          <p:cNvCxnSpPr>
            <a:endCxn id="6" idx="3"/>
          </p:cNvCxnSpPr>
          <p:nvPr/>
        </p:nvCxnSpPr>
        <p:spPr>
          <a:xfrm flipH="1" flipV="1">
            <a:off x="3532294" y="4484486"/>
            <a:ext cx="364957" cy="25664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2660271" y="2276872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660271" y="2765893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2656366" y="3262620"/>
            <a:ext cx="865005" cy="4767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364252" y="4517504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Caso a memória não seja liberada ela fica indisponível não somente durante a execução do programa, mas após o seu fechamento, chamamos isso de </a:t>
            </a:r>
            <a:r>
              <a:rPr lang="pt-BR" sz="1400" dirty="0" err="1"/>
              <a:t>memory</a:t>
            </a:r>
            <a:r>
              <a:rPr lang="pt-BR" sz="1400" dirty="0"/>
              <a:t> </a:t>
            </a:r>
            <a:r>
              <a:rPr lang="pt-BR" sz="1400" dirty="0" err="1"/>
              <a:t>leak</a:t>
            </a:r>
            <a:r>
              <a:rPr lang="pt-BR" sz="1400" dirty="0"/>
              <a:t> ou vazamento de memória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4084694" y="5949280"/>
            <a:ext cx="3571819" cy="8174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Podemos liberar memória utilizando a função </a:t>
            </a:r>
            <a:r>
              <a:rPr lang="pt-BR" sz="1400" dirty="0" err="1"/>
              <a:t>free</a:t>
            </a:r>
            <a:r>
              <a:rPr lang="pt-BR" sz="1400" dirty="0"/>
              <a:t>, mas somente  memória alocada dinamicamente!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2664725" y="4241148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2659057" y="4741130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2664563" y="5233404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2667931" y="5726391"/>
            <a:ext cx="865005" cy="476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/>
          <p:cNvCxnSpPr/>
          <p:nvPr/>
        </p:nvCxnSpPr>
        <p:spPr>
          <a:xfrm flipH="1" flipV="1">
            <a:off x="3532935" y="3501008"/>
            <a:ext cx="516716" cy="74014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Retângulo de cantos arredondados 21"/>
          <p:cNvSpPr/>
          <p:nvPr/>
        </p:nvSpPr>
        <p:spPr>
          <a:xfrm>
            <a:off x="4234703" y="322972"/>
            <a:ext cx="6264696" cy="1744742"/>
          </a:xfrm>
          <a:prstGeom prst="round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4000" dirty="0" err="1"/>
              <a:t>void</a:t>
            </a:r>
            <a:r>
              <a:rPr lang="pt-BR" sz="4000" dirty="0"/>
              <a:t> </a:t>
            </a:r>
            <a:r>
              <a:rPr lang="pt-BR" sz="4000" dirty="0" err="1"/>
              <a:t>free</a:t>
            </a:r>
            <a:r>
              <a:rPr lang="pt-BR" sz="4000" dirty="0"/>
              <a:t>(</a:t>
            </a:r>
            <a:r>
              <a:rPr lang="pt-BR" sz="4000" dirty="0" err="1"/>
              <a:t>void</a:t>
            </a:r>
            <a:r>
              <a:rPr lang="pt-BR" sz="4000" dirty="0"/>
              <a:t> *pointer);</a:t>
            </a:r>
          </a:p>
        </p:txBody>
      </p:sp>
    </p:spTree>
    <p:extLst>
      <p:ext uri="{BB962C8B-B14F-4D97-AF65-F5344CB8AC3E}">
        <p14:creationId xmlns:p14="http://schemas.microsoft.com/office/powerpoint/2010/main" val="327716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2063552" y="4365105"/>
            <a:ext cx="5688632" cy="224676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800" dirty="0" err="1"/>
              <a:t>int</a:t>
            </a:r>
            <a:r>
              <a:rPr lang="pt-BR" sz="2800" dirty="0"/>
              <a:t> *teste = </a:t>
            </a:r>
            <a:r>
              <a:rPr lang="pt-BR" sz="2800" dirty="0" err="1"/>
              <a:t>malloc</a:t>
            </a:r>
            <a:r>
              <a:rPr lang="pt-BR" sz="2800" dirty="0"/>
              <a:t> (</a:t>
            </a:r>
            <a:r>
              <a:rPr lang="pt-BR" sz="2800" dirty="0" err="1"/>
              <a:t>sizeof</a:t>
            </a:r>
            <a:r>
              <a:rPr lang="pt-BR" sz="2800" dirty="0"/>
              <a:t>(</a:t>
            </a:r>
            <a:r>
              <a:rPr lang="pt-BR" sz="2800" dirty="0" err="1"/>
              <a:t>int</a:t>
            </a:r>
            <a:r>
              <a:rPr lang="pt-BR" sz="2800" dirty="0"/>
              <a:t>));</a:t>
            </a:r>
          </a:p>
          <a:p>
            <a:r>
              <a:rPr lang="pt-BR" sz="2800" dirty="0" err="1"/>
              <a:t>if</a:t>
            </a:r>
            <a:r>
              <a:rPr lang="pt-BR" sz="2800" dirty="0"/>
              <a:t> (!teste) {</a:t>
            </a:r>
          </a:p>
          <a:p>
            <a:r>
              <a:rPr lang="pt-BR" sz="2800" dirty="0"/>
              <a:t>  </a:t>
            </a:r>
            <a:r>
              <a:rPr lang="pt-BR" sz="2800" dirty="0" err="1"/>
              <a:t>printf</a:t>
            </a:r>
            <a:r>
              <a:rPr lang="pt-BR" sz="2800" dirty="0"/>
              <a:t>(“Erro! Falta de memoria”);</a:t>
            </a:r>
          </a:p>
          <a:p>
            <a:r>
              <a:rPr lang="pt-BR" sz="2800" dirty="0"/>
              <a:t>  </a:t>
            </a:r>
            <a:r>
              <a:rPr lang="pt-BR" sz="2800" dirty="0" err="1"/>
              <a:t>return</a:t>
            </a:r>
            <a:r>
              <a:rPr lang="pt-BR" sz="2800" dirty="0"/>
              <a:t> -1;</a:t>
            </a:r>
          </a:p>
          <a:p>
            <a:r>
              <a:rPr lang="pt-BR" sz="2800" dirty="0"/>
              <a:t>}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 de Memória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Quando </a:t>
            </a:r>
            <a:r>
              <a:rPr lang="pt-BR" dirty="0" err="1"/>
              <a:t>malloc</a:t>
            </a:r>
            <a:r>
              <a:rPr lang="pt-BR" dirty="0"/>
              <a:t> retorna o endereço NULL é provável que a memória disponível não seja suficiente</a:t>
            </a:r>
          </a:p>
          <a:p>
            <a:r>
              <a:rPr lang="pt-BR" dirty="0"/>
              <a:t>Sempre devemos testar se a função </a:t>
            </a:r>
            <a:r>
              <a:rPr lang="pt-BR" dirty="0" err="1"/>
              <a:t>malloc</a:t>
            </a:r>
            <a:r>
              <a:rPr lang="pt-BR" dirty="0"/>
              <a:t> retornou NULL</a:t>
            </a:r>
          </a:p>
          <a:p>
            <a:endParaRPr lang="pt-BR" dirty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7479871" y="4653136"/>
            <a:ext cx="2448272" cy="86409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Ou seja: teste == NULL</a:t>
            </a:r>
          </a:p>
        </p:txBody>
      </p:sp>
      <p:cxnSp>
        <p:nvCxnSpPr>
          <p:cNvPr id="7" name="Conector de seta reta 6"/>
          <p:cNvCxnSpPr>
            <a:stCxn id="5" idx="1"/>
          </p:cNvCxnSpPr>
          <p:nvPr/>
        </p:nvCxnSpPr>
        <p:spPr>
          <a:xfrm flipH="1">
            <a:off x="3791745" y="5085184"/>
            <a:ext cx="368812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11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Casting</a:t>
            </a: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0" y="980728"/>
            <a:ext cx="9048328" cy="48499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800" dirty="0" err="1"/>
              <a:t>int</a:t>
            </a:r>
            <a:r>
              <a:rPr lang="pt-BR" sz="2800" dirty="0"/>
              <a:t> </a:t>
            </a:r>
            <a:r>
              <a:rPr lang="pt-BR" sz="2800" dirty="0" err="1"/>
              <a:t>main</a:t>
            </a:r>
            <a:r>
              <a:rPr lang="pt-BR" sz="2800" dirty="0"/>
              <a:t>(){</a:t>
            </a:r>
          </a:p>
          <a:p>
            <a:endParaRPr lang="pt-BR" sz="2800" dirty="0"/>
          </a:p>
          <a:p>
            <a:r>
              <a:rPr lang="pt-BR" sz="2800" dirty="0"/>
              <a:t>  </a:t>
            </a:r>
            <a:r>
              <a:rPr lang="pt-BR" sz="2800" dirty="0" err="1"/>
              <a:t>int</a:t>
            </a:r>
            <a:r>
              <a:rPr lang="pt-BR" sz="2800" dirty="0"/>
              <a:t> </a:t>
            </a:r>
            <a:r>
              <a:rPr lang="pt-BR" sz="2800" dirty="0" err="1"/>
              <a:t>nNumAlunos</a:t>
            </a:r>
            <a:r>
              <a:rPr lang="pt-BR" sz="2800" dirty="0"/>
              <a:t>;</a:t>
            </a:r>
          </a:p>
          <a:p>
            <a:r>
              <a:rPr lang="pt-BR" sz="2800" dirty="0"/>
              <a:t>  </a:t>
            </a:r>
            <a:r>
              <a:rPr lang="pt-BR" sz="2800" dirty="0" err="1"/>
              <a:t>scanf</a:t>
            </a:r>
            <a:r>
              <a:rPr lang="pt-BR" sz="2800" dirty="0"/>
              <a:t>(“%d”,&amp;</a:t>
            </a:r>
            <a:r>
              <a:rPr lang="pt-BR" sz="2800" dirty="0" err="1"/>
              <a:t>nNumAlunos</a:t>
            </a:r>
            <a:r>
              <a:rPr lang="pt-BR" sz="2800" dirty="0"/>
              <a:t>);</a:t>
            </a:r>
          </a:p>
          <a:p>
            <a:r>
              <a:rPr lang="pt-BR" sz="2800" dirty="0"/>
              <a:t>  </a:t>
            </a:r>
          </a:p>
          <a:p>
            <a:r>
              <a:rPr lang="pt-BR" sz="2800" dirty="0"/>
              <a:t>  </a:t>
            </a:r>
            <a:r>
              <a:rPr lang="pt-BR" sz="2800" dirty="0" err="1"/>
              <a:t>int</a:t>
            </a:r>
            <a:r>
              <a:rPr lang="pt-BR" sz="2800" dirty="0"/>
              <a:t> *</a:t>
            </a:r>
            <a:r>
              <a:rPr lang="pt-BR" sz="2800" dirty="0" err="1"/>
              <a:t>notaAlunos</a:t>
            </a:r>
            <a:r>
              <a:rPr lang="pt-BR" sz="2800" dirty="0"/>
              <a:t>;</a:t>
            </a:r>
          </a:p>
          <a:p>
            <a:r>
              <a:rPr lang="pt-BR" sz="2800" b="1" dirty="0"/>
              <a:t>  </a:t>
            </a:r>
            <a:r>
              <a:rPr lang="pt-BR" sz="2800" dirty="0" err="1"/>
              <a:t>notaAlunos</a:t>
            </a:r>
            <a:r>
              <a:rPr lang="pt-BR" sz="2800" dirty="0"/>
              <a:t> = </a:t>
            </a:r>
            <a:r>
              <a:rPr lang="pt-BR" sz="2800" b="1" dirty="0"/>
              <a:t>(</a:t>
            </a:r>
            <a:r>
              <a:rPr lang="pt-BR" sz="2800" b="1" dirty="0" err="1"/>
              <a:t>int</a:t>
            </a:r>
            <a:r>
              <a:rPr lang="pt-BR" sz="2800" b="1" dirty="0"/>
              <a:t> *)</a:t>
            </a:r>
            <a:r>
              <a:rPr lang="pt-BR" sz="2800" dirty="0" err="1"/>
              <a:t>malloc</a:t>
            </a:r>
            <a:r>
              <a:rPr lang="pt-BR" sz="2800" dirty="0"/>
              <a:t>(</a:t>
            </a:r>
            <a:r>
              <a:rPr lang="pt-BR" sz="2800" dirty="0" err="1"/>
              <a:t>sizeof</a:t>
            </a:r>
            <a:r>
              <a:rPr lang="pt-BR" sz="2800" dirty="0"/>
              <a:t>(</a:t>
            </a:r>
            <a:r>
              <a:rPr lang="pt-BR" sz="2800" dirty="0" err="1"/>
              <a:t>int</a:t>
            </a:r>
            <a:r>
              <a:rPr lang="pt-BR" sz="2800" dirty="0"/>
              <a:t>)*</a:t>
            </a:r>
            <a:r>
              <a:rPr lang="pt-BR" sz="2800" dirty="0" err="1"/>
              <a:t>nNumAlunos</a:t>
            </a:r>
            <a:r>
              <a:rPr lang="pt-BR" sz="2800" dirty="0"/>
              <a:t>);</a:t>
            </a:r>
          </a:p>
          <a:p>
            <a:r>
              <a:rPr lang="pt-BR" sz="2800" dirty="0"/>
              <a:t>  </a:t>
            </a:r>
            <a:r>
              <a:rPr lang="pt-BR" sz="2800" dirty="0" err="1"/>
              <a:t>free</a:t>
            </a:r>
            <a:r>
              <a:rPr lang="pt-BR" sz="2800" dirty="0"/>
              <a:t>(</a:t>
            </a:r>
            <a:r>
              <a:rPr lang="pt-BR" sz="2800" dirty="0" err="1"/>
              <a:t>notaAlunos</a:t>
            </a:r>
            <a:r>
              <a:rPr lang="pt-BR" sz="2800" dirty="0"/>
              <a:t>);</a:t>
            </a:r>
          </a:p>
          <a:p>
            <a:r>
              <a:rPr lang="pt-BR" sz="2800" dirty="0"/>
              <a:t>}</a:t>
            </a:r>
          </a:p>
        </p:txBody>
      </p:sp>
      <p:sp>
        <p:nvSpPr>
          <p:cNvPr id="5" name="Retângulo de cantos arredondados 4"/>
          <p:cNvSpPr/>
          <p:nvPr/>
        </p:nvSpPr>
        <p:spPr>
          <a:xfrm>
            <a:off x="9480376" y="1620392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 função </a:t>
            </a:r>
            <a:r>
              <a:rPr lang="pt-BR" dirty="0" err="1"/>
              <a:t>malloc</a:t>
            </a:r>
            <a:r>
              <a:rPr lang="pt-BR" dirty="0"/>
              <a:t> aloca um espaço de memória e retorna um endereço de memória sem tipo.</a:t>
            </a:r>
          </a:p>
          <a:p>
            <a:pPr algn="ctr"/>
            <a:r>
              <a:rPr lang="pt-BR" b="1" dirty="0" err="1"/>
              <a:t>void</a:t>
            </a:r>
            <a:endParaRPr lang="pt-BR" b="1" dirty="0"/>
          </a:p>
        </p:txBody>
      </p:sp>
      <p:sp>
        <p:nvSpPr>
          <p:cNvPr id="6" name="Retângulo de cantos arredondados 5"/>
          <p:cNvSpPr/>
          <p:nvPr/>
        </p:nvSpPr>
        <p:spPr>
          <a:xfrm>
            <a:off x="9624392" y="4140672"/>
            <a:ext cx="2268252" cy="224924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Um ponteiro sem tipo não permite avanço e retrocesso na memória em intervalos iguais ao tipo de dado armazenado, pois não sabemos quanto pular já que não sabemos o tipo de dado.</a:t>
            </a:r>
          </a:p>
        </p:txBody>
      </p:sp>
      <p:sp>
        <p:nvSpPr>
          <p:cNvPr id="7" name="Retângulo de cantos arredondados 6"/>
          <p:cNvSpPr/>
          <p:nvPr/>
        </p:nvSpPr>
        <p:spPr>
          <a:xfrm>
            <a:off x="4084694" y="5949280"/>
            <a:ext cx="3571819" cy="8174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Devemos sempre criar um ponteiro do tipo de dado que vamos armazenar na memória alocada, e devemos sempre fazer um </a:t>
            </a:r>
            <a:r>
              <a:rPr lang="pt-BR" sz="1400" dirty="0" err="1"/>
              <a:t>casting</a:t>
            </a:r>
            <a:r>
              <a:rPr lang="pt-BR" sz="1400" dirty="0"/>
              <a:t> para o tipo de dado.</a:t>
            </a:r>
          </a:p>
        </p:txBody>
      </p:sp>
    </p:spTree>
    <p:extLst>
      <p:ext uri="{BB962C8B-B14F-4D97-AF65-F5344CB8AC3E}">
        <p14:creationId xmlns:p14="http://schemas.microsoft.com/office/powerpoint/2010/main" val="127358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Structs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991544" y="1196753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struct</a:t>
            </a:r>
            <a:r>
              <a:rPr lang="pt-BR" dirty="0"/>
              <a:t>{</a:t>
            </a:r>
          </a:p>
          <a:p>
            <a:r>
              <a:rPr lang="pt-BR" dirty="0"/>
              <a:t>   char nome[30];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altura;</a:t>
            </a:r>
          </a:p>
          <a:p>
            <a:r>
              <a:rPr lang="pt-BR" dirty="0"/>
              <a:t>}Pessoa;</a:t>
            </a:r>
          </a:p>
          <a:p>
            <a:endParaRPr lang="pt-BR" dirty="0"/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(){</a:t>
            </a:r>
          </a:p>
          <a:p>
            <a:endParaRPr lang="pt-BR" dirty="0"/>
          </a:p>
          <a:p>
            <a:r>
              <a:rPr lang="pt-BR" dirty="0"/>
              <a:t>  Pessoa *p;</a:t>
            </a:r>
          </a:p>
          <a:p>
            <a:r>
              <a:rPr lang="pt-BR" dirty="0"/>
              <a:t>  p= (Pessoa *)</a:t>
            </a:r>
            <a:r>
              <a:rPr lang="pt-BR" dirty="0" err="1"/>
              <a:t>malloc</a:t>
            </a:r>
            <a:r>
              <a:rPr lang="pt-BR" dirty="0"/>
              <a:t>(</a:t>
            </a:r>
            <a:r>
              <a:rPr lang="pt-BR" b="1" dirty="0" err="1"/>
              <a:t>sizeof</a:t>
            </a:r>
            <a:r>
              <a:rPr lang="pt-BR" b="1" dirty="0"/>
              <a:t>(Pessoa)</a:t>
            </a:r>
            <a:r>
              <a:rPr lang="pt-BR" dirty="0"/>
              <a:t>);</a:t>
            </a:r>
          </a:p>
          <a:p>
            <a:r>
              <a:rPr lang="pt-BR" dirty="0">
                <a:solidFill>
                  <a:srgbClr val="00B050"/>
                </a:solidFill>
              </a:rPr>
              <a:t>  // </a:t>
            </a:r>
            <a:r>
              <a:rPr lang="pt-BR" dirty="0" err="1">
                <a:solidFill>
                  <a:srgbClr val="00B050"/>
                </a:solidFill>
              </a:rPr>
              <a:t>le</a:t>
            </a:r>
            <a:r>
              <a:rPr lang="pt-BR" dirty="0">
                <a:solidFill>
                  <a:srgbClr val="00B050"/>
                </a:solidFill>
              </a:rPr>
              <a:t> os dados de uma pessoa</a:t>
            </a:r>
          </a:p>
          <a:p>
            <a:r>
              <a:rPr lang="it-IT" dirty="0"/>
              <a:t>  printf(“Nome: ”); scanf(“%s”,</a:t>
            </a:r>
            <a:r>
              <a:rPr lang="it-IT" b="1" dirty="0"/>
              <a:t>&amp;(*p).nome</a:t>
            </a:r>
            <a:r>
              <a:rPr lang="it-IT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(“Idade: ”); </a:t>
            </a:r>
            <a:r>
              <a:rPr lang="pt-BR" dirty="0" err="1"/>
              <a:t>scanf</a:t>
            </a:r>
            <a:r>
              <a:rPr lang="pt-BR" dirty="0"/>
              <a:t>(“%d”,&amp;(*p).idade);</a:t>
            </a:r>
          </a:p>
          <a:p>
            <a:r>
              <a:rPr lang="it-IT" dirty="0"/>
              <a:t>  printf(“Nome: ”); scanf(“%d”,&amp;(*p).altura);</a:t>
            </a:r>
          </a:p>
          <a:p>
            <a:r>
              <a:rPr lang="pt-BR" dirty="0">
                <a:solidFill>
                  <a:srgbClr val="00B050"/>
                </a:solidFill>
              </a:rPr>
              <a:t>  // imprime os dados na tela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(“Nome: %s\n”, </a:t>
            </a:r>
            <a:r>
              <a:rPr lang="pt-BR" b="1" dirty="0"/>
              <a:t>(*p).nome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(“Idade: %d\n”, (*p).idade);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(“Nome: %d\n”, (*p).altura);</a:t>
            </a:r>
          </a:p>
          <a:p>
            <a:r>
              <a:rPr lang="pt-BR" dirty="0"/>
              <a:t>  </a:t>
            </a:r>
            <a:r>
              <a:rPr lang="pt-BR" dirty="0" err="1"/>
              <a:t>free</a:t>
            </a:r>
            <a:r>
              <a:rPr lang="pt-BR" dirty="0"/>
              <a:t>(p);</a:t>
            </a:r>
          </a:p>
          <a:p>
            <a:r>
              <a:rPr lang="pt-BR" dirty="0"/>
              <a:t>}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7392144" y="1628800"/>
            <a:ext cx="2304256" cy="86409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Somente uma pessoa</a:t>
            </a:r>
          </a:p>
        </p:txBody>
      </p:sp>
      <p:cxnSp>
        <p:nvCxnSpPr>
          <p:cNvPr id="8" name="Conector de seta reta 7"/>
          <p:cNvCxnSpPr>
            <a:stCxn id="6" idx="1"/>
          </p:cNvCxnSpPr>
          <p:nvPr/>
        </p:nvCxnSpPr>
        <p:spPr>
          <a:xfrm flipH="1">
            <a:off x="4799856" y="2060848"/>
            <a:ext cx="2592288" cy="158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10" name="Conector de seta reta 9"/>
          <p:cNvCxnSpPr>
            <a:stCxn id="9" idx="1"/>
          </p:cNvCxnSpPr>
          <p:nvPr/>
        </p:nvCxnSpPr>
        <p:spPr>
          <a:xfrm flipH="1">
            <a:off x="5447928" y="3437384"/>
            <a:ext cx="1584176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9" idx="2"/>
          </p:cNvCxnSpPr>
          <p:nvPr/>
        </p:nvCxnSpPr>
        <p:spPr>
          <a:xfrm flipH="1">
            <a:off x="4799856" y="3869432"/>
            <a:ext cx="3384376" cy="15037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Retângulo de cantos arredondados 8"/>
          <p:cNvSpPr/>
          <p:nvPr/>
        </p:nvSpPr>
        <p:spPr>
          <a:xfrm>
            <a:off x="7032104" y="3005336"/>
            <a:ext cx="2304256" cy="86409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Acesso ao dados na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8148228" y="3911313"/>
            <a:ext cx="2376264" cy="14619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Outra forma:</a:t>
            </a:r>
          </a:p>
          <a:p>
            <a:pPr algn="ctr"/>
            <a:r>
              <a:rPr lang="pt-BR" b="1" dirty="0"/>
              <a:t>p-&gt;nome</a:t>
            </a:r>
            <a:endParaRPr lang="pt-BR" dirty="0"/>
          </a:p>
          <a:p>
            <a:pPr algn="ctr"/>
            <a:r>
              <a:rPr lang="pt-BR" dirty="0"/>
              <a:t>Não é necessário o * pois o -&gt; só funciona em ponteiros.</a:t>
            </a: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4691844" y="6237313"/>
            <a:ext cx="5400600" cy="5917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O parênteses é necessário porque o ● (ponto ) tem prioridade maior que o*.</a:t>
            </a:r>
          </a:p>
        </p:txBody>
      </p:sp>
      <p:cxnSp>
        <p:nvCxnSpPr>
          <p:cNvPr id="19" name="Conector de seta reta 18"/>
          <p:cNvCxnSpPr>
            <a:stCxn id="17" idx="1"/>
          </p:cNvCxnSpPr>
          <p:nvPr/>
        </p:nvCxnSpPr>
        <p:spPr>
          <a:xfrm flipH="1" flipV="1">
            <a:off x="4367808" y="6237312"/>
            <a:ext cx="324036" cy="295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29326" y="6165304"/>
            <a:ext cx="1818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linkClick r:id="rId2"/>
              </a:rPr>
              <a:t>Link precedência de operadores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409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Structs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991544" y="1196753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struct</a:t>
            </a:r>
            <a:r>
              <a:rPr lang="pt-BR" dirty="0"/>
              <a:t>{</a:t>
            </a:r>
          </a:p>
          <a:p>
            <a:r>
              <a:rPr lang="pt-BR" dirty="0"/>
              <a:t>   char nome[30];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altura;</a:t>
            </a:r>
          </a:p>
          <a:p>
            <a:r>
              <a:rPr lang="pt-BR" dirty="0"/>
              <a:t>}Pessoa;</a:t>
            </a:r>
          </a:p>
          <a:p>
            <a:endParaRPr lang="pt-BR" dirty="0"/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(){</a:t>
            </a:r>
          </a:p>
          <a:p>
            <a:endParaRPr lang="pt-BR" dirty="0"/>
          </a:p>
          <a:p>
            <a:r>
              <a:rPr lang="pt-BR" dirty="0"/>
              <a:t>  Pessoa *p;</a:t>
            </a:r>
          </a:p>
          <a:p>
            <a:r>
              <a:rPr lang="pt-BR" dirty="0"/>
              <a:t>  p= (Pessoa *)</a:t>
            </a:r>
            <a:r>
              <a:rPr lang="pt-BR" dirty="0" err="1"/>
              <a:t>malloc</a:t>
            </a:r>
            <a:r>
              <a:rPr lang="pt-BR" dirty="0"/>
              <a:t>(</a:t>
            </a:r>
            <a:r>
              <a:rPr lang="pt-BR" dirty="0" err="1"/>
              <a:t>sizeof</a:t>
            </a:r>
            <a:r>
              <a:rPr lang="pt-BR" dirty="0"/>
              <a:t>(Pessoa));</a:t>
            </a:r>
          </a:p>
          <a:p>
            <a:r>
              <a:rPr lang="pt-BR" dirty="0">
                <a:solidFill>
                  <a:srgbClr val="00B050"/>
                </a:solidFill>
              </a:rPr>
              <a:t>  // </a:t>
            </a:r>
            <a:r>
              <a:rPr lang="pt-BR" dirty="0" err="1">
                <a:solidFill>
                  <a:srgbClr val="00B050"/>
                </a:solidFill>
              </a:rPr>
              <a:t>le</a:t>
            </a:r>
            <a:r>
              <a:rPr lang="pt-BR" dirty="0">
                <a:solidFill>
                  <a:srgbClr val="00B050"/>
                </a:solidFill>
              </a:rPr>
              <a:t> os dados de uma pessoa</a:t>
            </a:r>
          </a:p>
          <a:p>
            <a:r>
              <a:rPr lang="it-IT" dirty="0"/>
              <a:t>  printf(“Nome: ”); scanf(“%s”,&amp;(*p).nome);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(“Idade: ”); </a:t>
            </a:r>
            <a:r>
              <a:rPr lang="pt-BR" dirty="0" err="1"/>
              <a:t>scanf</a:t>
            </a:r>
            <a:r>
              <a:rPr lang="pt-BR" dirty="0"/>
              <a:t>(“%d”,&amp;(*p).idade);</a:t>
            </a:r>
          </a:p>
          <a:p>
            <a:r>
              <a:rPr lang="it-IT" dirty="0"/>
              <a:t>  printf(“Nome: ”); scanf(“%d”,&amp;(*p).altura);</a:t>
            </a:r>
          </a:p>
          <a:p>
            <a:r>
              <a:rPr lang="pt-BR" dirty="0">
                <a:solidFill>
                  <a:srgbClr val="00B050"/>
                </a:solidFill>
              </a:rPr>
              <a:t>  // imprime os dados na tela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(“Nome: %s\n”, (*p).nome);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(“Idade: %d\n”, (*p).idade);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(“Nome: %d\n”, (*p).altura);</a:t>
            </a:r>
          </a:p>
          <a:p>
            <a:r>
              <a:rPr lang="pt-BR" dirty="0"/>
              <a:t>  </a:t>
            </a:r>
            <a:r>
              <a:rPr lang="pt-BR" dirty="0" err="1"/>
              <a:t>free</a:t>
            </a:r>
            <a:r>
              <a:rPr lang="pt-BR" dirty="0"/>
              <a:t>(p);</a:t>
            </a:r>
          </a:p>
          <a:p>
            <a:r>
              <a:rPr lang="pt-BR" dirty="0"/>
              <a:t>}</a:t>
            </a:r>
          </a:p>
        </p:txBody>
      </p:sp>
      <p:cxnSp>
        <p:nvCxnSpPr>
          <p:cNvPr id="5" name="Conector de seta reta 4"/>
          <p:cNvCxnSpPr/>
          <p:nvPr/>
        </p:nvCxnSpPr>
        <p:spPr>
          <a:xfrm flipV="1">
            <a:off x="6346609" y="4550152"/>
            <a:ext cx="648072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tângulo de cantos arredondados 6"/>
          <p:cNvSpPr/>
          <p:nvPr/>
        </p:nvSpPr>
        <p:spPr>
          <a:xfrm>
            <a:off x="7104112" y="3501008"/>
            <a:ext cx="2952328" cy="20162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b="1" dirty="0"/>
              <a:t>scanf(“%s”,&amp;p-&gt;nome);</a:t>
            </a:r>
          </a:p>
          <a:p>
            <a:r>
              <a:rPr lang="pt-BR" b="1" dirty="0" err="1"/>
              <a:t>scanf</a:t>
            </a:r>
            <a:r>
              <a:rPr lang="pt-BR" b="1" dirty="0"/>
              <a:t>(“%d”,&amp;</a:t>
            </a:r>
            <a:r>
              <a:rPr lang="it-IT" b="1" dirty="0"/>
              <a:t>p-&gt;</a:t>
            </a:r>
            <a:r>
              <a:rPr lang="pt-BR" b="1" dirty="0"/>
              <a:t>idade);</a:t>
            </a:r>
          </a:p>
          <a:p>
            <a:r>
              <a:rPr lang="it-IT" b="1" dirty="0"/>
              <a:t>scanf(“%d”,&amp;p-&gt;altura);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5336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Structs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991544" y="1196753"/>
            <a:ext cx="612068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struct</a:t>
            </a:r>
            <a:r>
              <a:rPr lang="pt-BR" dirty="0"/>
              <a:t>{</a:t>
            </a:r>
          </a:p>
          <a:p>
            <a:r>
              <a:rPr lang="pt-BR" dirty="0"/>
              <a:t>   char nome[30];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altura;</a:t>
            </a:r>
          </a:p>
          <a:p>
            <a:r>
              <a:rPr lang="pt-BR" dirty="0"/>
              <a:t>}Pessoa;</a:t>
            </a:r>
          </a:p>
          <a:p>
            <a:endParaRPr lang="pt-BR" dirty="0"/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(){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nNumPessoas</a:t>
            </a:r>
            <a:r>
              <a:rPr lang="pt-BR" dirty="0"/>
              <a:t>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(“Quantas pessoas?”);</a:t>
            </a:r>
          </a:p>
          <a:p>
            <a:r>
              <a:rPr lang="pt-BR" dirty="0"/>
              <a:t>  </a:t>
            </a:r>
            <a:r>
              <a:rPr lang="pt-BR" dirty="0" err="1"/>
              <a:t>scanf</a:t>
            </a:r>
            <a:r>
              <a:rPr lang="pt-BR" dirty="0"/>
              <a:t>(“%d”, </a:t>
            </a:r>
            <a:r>
              <a:rPr lang="pt-BR" dirty="0" err="1"/>
              <a:t>nNumPessoas</a:t>
            </a: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  Pessoa *p;</a:t>
            </a:r>
          </a:p>
          <a:p>
            <a:r>
              <a:rPr lang="pt-BR" dirty="0"/>
              <a:t>  p= (Pessoa *)</a:t>
            </a:r>
            <a:r>
              <a:rPr lang="pt-BR" dirty="0" err="1"/>
              <a:t>malloc</a:t>
            </a:r>
            <a:r>
              <a:rPr lang="pt-BR" dirty="0"/>
              <a:t>(</a:t>
            </a:r>
            <a:r>
              <a:rPr lang="pt-BR" dirty="0" err="1"/>
              <a:t>sizeof</a:t>
            </a:r>
            <a:r>
              <a:rPr lang="pt-BR" dirty="0"/>
              <a:t>(Pessoa) * </a:t>
            </a:r>
            <a:r>
              <a:rPr lang="pt-BR" b="1" dirty="0" err="1"/>
              <a:t>nNumPessoas</a:t>
            </a:r>
            <a:r>
              <a:rPr lang="pt-BR" dirty="0"/>
              <a:t>);</a:t>
            </a:r>
          </a:p>
          <a:p>
            <a:r>
              <a:rPr lang="en-US" dirty="0"/>
              <a:t>…</a:t>
            </a:r>
            <a:endParaRPr lang="pt-BR" dirty="0"/>
          </a:p>
        </p:txBody>
      </p:sp>
      <p:cxnSp>
        <p:nvCxnSpPr>
          <p:cNvPr id="6" name="Conector de seta reta 5"/>
          <p:cNvCxnSpPr>
            <a:stCxn id="7" idx="1"/>
          </p:cNvCxnSpPr>
          <p:nvPr/>
        </p:nvCxnSpPr>
        <p:spPr>
          <a:xfrm flipH="1">
            <a:off x="6240016" y="3933056"/>
            <a:ext cx="1584176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Retângulo de cantos arredondados 6"/>
          <p:cNvSpPr/>
          <p:nvPr/>
        </p:nvSpPr>
        <p:spPr>
          <a:xfrm>
            <a:off x="7824192" y="3501008"/>
            <a:ext cx="2304256" cy="86409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Várias pessoas</a:t>
            </a:r>
          </a:p>
        </p:txBody>
      </p:sp>
    </p:spTree>
    <p:extLst>
      <p:ext uri="{BB962C8B-B14F-4D97-AF65-F5344CB8AC3E}">
        <p14:creationId xmlns:p14="http://schemas.microsoft.com/office/powerpoint/2010/main" val="175924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 alocação dinâmica podemos criar uma variável char com o tamanho exato do texto, não temos mais desperdício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char nome[50];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dirty="0"/>
              <a:t>char *nome = (char *)</a:t>
            </a:r>
            <a:r>
              <a:rPr lang="pt-BR" sz="2400" dirty="0" err="1"/>
              <a:t>malloc</a:t>
            </a:r>
            <a:r>
              <a:rPr lang="pt-BR" sz="2400" dirty="0"/>
              <a:t>(</a:t>
            </a:r>
            <a:r>
              <a:rPr lang="pt-BR" sz="2400" dirty="0" err="1"/>
              <a:t>sizeof</a:t>
            </a:r>
            <a:r>
              <a:rPr lang="pt-BR" sz="2400" dirty="0"/>
              <a:t>(char) * </a:t>
            </a:r>
            <a:r>
              <a:rPr lang="pt-BR" sz="2400" dirty="0" err="1"/>
              <a:t>nTamanhoDoNome</a:t>
            </a:r>
            <a:r>
              <a:rPr lang="pt-BR" sz="2400" dirty="0"/>
              <a:t>);</a:t>
            </a:r>
            <a:endParaRPr lang="pt-BR" dirty="0"/>
          </a:p>
          <a:p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4295800" y="3284984"/>
            <a:ext cx="2736304" cy="6480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/>
              <a:t>E se o nome for Ana ?</a:t>
            </a:r>
          </a:p>
        </p:txBody>
      </p:sp>
      <p:cxnSp>
        <p:nvCxnSpPr>
          <p:cNvPr id="6" name="Conector de seta reta 5"/>
          <p:cNvCxnSpPr/>
          <p:nvPr/>
        </p:nvCxnSpPr>
        <p:spPr>
          <a:xfrm flipH="1">
            <a:off x="3359696" y="360902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19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b="1" dirty="0"/>
              <a:t>Introdução:</a:t>
            </a:r>
          </a:p>
          <a:p>
            <a:pPr lvl="1"/>
            <a:r>
              <a:rPr lang="pt-BR" sz="2400" dirty="0"/>
              <a:t>Vimos que para </a:t>
            </a:r>
            <a:r>
              <a:rPr lang="pt-BR" sz="2400" u="sng" dirty="0"/>
              <a:t>alocar</a:t>
            </a:r>
            <a:r>
              <a:rPr lang="pt-BR" sz="2400" dirty="0"/>
              <a:t> um </a:t>
            </a:r>
            <a:r>
              <a:rPr lang="pt-BR" sz="2400" u="sng" dirty="0"/>
              <a:t>vetor</a:t>
            </a:r>
            <a:r>
              <a:rPr lang="pt-BR" sz="2400" dirty="0"/>
              <a:t> de forma </a:t>
            </a:r>
            <a:r>
              <a:rPr lang="pt-BR" sz="2400" u="sng" dirty="0"/>
              <a:t>dinâmica</a:t>
            </a:r>
            <a:r>
              <a:rPr lang="pt-BR" sz="2400" dirty="0"/>
              <a:t> usamos a função </a:t>
            </a:r>
            <a:r>
              <a:rPr lang="pt-BR" sz="2400" b="1" dirty="0" err="1">
                <a:solidFill>
                  <a:srgbClr val="0000FF"/>
                </a:solidFill>
                <a:latin typeface="Courier New" pitchFamily="49" charset="0"/>
              </a:rPr>
              <a:t>malloc</a:t>
            </a:r>
            <a:r>
              <a:rPr lang="pt-BR" sz="2400" dirty="0"/>
              <a:t> que retorna o endereço do primeiro elemento do vetor alocado.</a:t>
            </a:r>
          </a:p>
          <a:p>
            <a:pPr lvl="1"/>
            <a:r>
              <a:rPr lang="pt-BR" sz="2400" dirty="0"/>
              <a:t>Precisamos de um  </a:t>
            </a:r>
            <a:r>
              <a:rPr lang="pt-BR" sz="2400" u="sng" dirty="0"/>
              <a:t>ponteiro</a:t>
            </a:r>
            <a:r>
              <a:rPr lang="pt-BR" sz="2400" dirty="0"/>
              <a:t> para guardar o endereço retornado.</a:t>
            </a:r>
          </a:p>
          <a:p>
            <a:pPr lvl="1"/>
            <a:r>
              <a:rPr lang="pt-BR" sz="2400" dirty="0"/>
              <a:t>Os elementos do vetor podem ser </a:t>
            </a:r>
            <a:r>
              <a:rPr lang="pt-BR" sz="2400" u="sng" dirty="0"/>
              <a:t>acessados</a:t>
            </a:r>
            <a:r>
              <a:rPr lang="pt-BR" sz="2400" dirty="0"/>
              <a:t> através do ponteiro usando </a:t>
            </a:r>
            <a:r>
              <a:rPr lang="pt-BR" sz="2400" u="sng" dirty="0"/>
              <a:t>notação convencional de vetores</a:t>
            </a:r>
            <a:r>
              <a:rPr lang="pt-BR" sz="2400" dirty="0"/>
              <a:t> </a:t>
            </a:r>
            <a:r>
              <a:rPr lang="pt-BR" sz="2400" b="1" dirty="0">
                <a:solidFill>
                  <a:srgbClr val="CC0000"/>
                </a:solidFill>
                <a:latin typeface="Courier New" pitchFamily="49" charset="0"/>
              </a:rPr>
              <a:t>p[i]</a:t>
            </a:r>
            <a:r>
              <a:rPr lang="pt-BR" sz="2400" dirty="0"/>
              <a:t> ou através da </a:t>
            </a:r>
            <a:r>
              <a:rPr lang="pt-BR" sz="2400" u="sng" dirty="0"/>
              <a:t>notação de ponteiros</a:t>
            </a:r>
            <a:r>
              <a:rPr lang="pt-BR" sz="2400" dirty="0"/>
              <a:t> </a:t>
            </a:r>
            <a:r>
              <a:rPr lang="pt-BR" sz="2400" b="1" dirty="0">
                <a:solidFill>
                  <a:srgbClr val="CC0000"/>
                </a:solidFill>
                <a:latin typeface="Courier New" pitchFamily="49" charset="0"/>
              </a:rPr>
              <a:t>*(</a:t>
            </a:r>
            <a:r>
              <a:rPr lang="pt-BR" sz="2400" b="1" dirty="0" err="1">
                <a:solidFill>
                  <a:srgbClr val="CC0000"/>
                </a:solidFill>
                <a:latin typeface="Courier New" pitchFamily="49" charset="0"/>
              </a:rPr>
              <a:t>p+i</a:t>
            </a:r>
            <a:r>
              <a:rPr lang="pt-BR" sz="2400" b="1" dirty="0">
                <a:solidFill>
                  <a:srgbClr val="CC0000"/>
                </a:solidFill>
                <a:latin typeface="Courier New" pitchFamily="49" charset="0"/>
              </a:rPr>
              <a:t>)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920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Exemplo: Alocando um vetor de inteiros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4575176" y="4370388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4575176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4007112</a:t>
            </a: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auto">
          <a:xfrm>
            <a:off x="6015038" y="43703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5479" name="Rectangle 7"/>
          <p:cNvSpPr>
            <a:spLocks noChangeArrowheads="1"/>
          </p:cNvSpPr>
          <p:nvPr/>
        </p:nvSpPr>
        <p:spPr bwMode="auto">
          <a:xfrm>
            <a:off x="7454901" y="4370388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5480" name="Rectangle 8"/>
          <p:cNvSpPr>
            <a:spLocks noChangeArrowheads="1"/>
          </p:cNvSpPr>
          <p:nvPr/>
        </p:nvSpPr>
        <p:spPr bwMode="auto">
          <a:xfrm>
            <a:off x="8894763" y="43703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6015039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4007116</a:t>
            </a:r>
          </a:p>
        </p:txBody>
      </p: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7454901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4007120</a:t>
            </a: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8894764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4007124</a:t>
            </a:r>
          </a:p>
        </p:txBody>
      </p:sp>
      <p:sp>
        <p:nvSpPr>
          <p:cNvPr id="105484" name="Rectangle 12"/>
          <p:cNvSpPr>
            <a:spLocks noChangeArrowheads="1"/>
          </p:cNvSpPr>
          <p:nvPr/>
        </p:nvSpPr>
        <p:spPr bwMode="auto">
          <a:xfrm>
            <a:off x="2208213" y="39131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>
                <a:solidFill>
                  <a:srgbClr val="A50021"/>
                </a:solidFill>
              </a:rPr>
              <a:t>4007112</a:t>
            </a:r>
          </a:p>
        </p:txBody>
      </p:sp>
      <p:sp>
        <p:nvSpPr>
          <p:cNvPr id="105485" name="Text Box 13"/>
          <p:cNvSpPr txBox="1">
            <a:spLocks noChangeArrowheads="1"/>
          </p:cNvSpPr>
          <p:nvPr/>
        </p:nvSpPr>
        <p:spPr bwMode="auto">
          <a:xfrm>
            <a:off x="2208214" y="45275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2293620</a:t>
            </a:r>
          </a:p>
        </p:txBody>
      </p:sp>
      <p:sp>
        <p:nvSpPr>
          <p:cNvPr id="105486" name="Text Box 14"/>
          <p:cNvSpPr txBox="1">
            <a:spLocks noChangeArrowheads="1"/>
          </p:cNvSpPr>
          <p:nvPr/>
        </p:nvSpPr>
        <p:spPr bwMode="auto">
          <a:xfrm>
            <a:off x="2295525" y="3500438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BR" sz="2400" b="1">
                <a:latin typeface="Courier New" pitchFamily="49" charset="0"/>
              </a:rPr>
              <a:t> *p1</a:t>
            </a:r>
          </a:p>
        </p:txBody>
      </p:sp>
      <p:sp>
        <p:nvSpPr>
          <p:cNvPr id="105489" name="Line 17"/>
          <p:cNvSpPr>
            <a:spLocks noChangeShapeType="1"/>
          </p:cNvSpPr>
          <p:nvPr/>
        </p:nvSpPr>
        <p:spPr bwMode="auto">
          <a:xfrm>
            <a:off x="3648075" y="4221164"/>
            <a:ext cx="935038" cy="528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5490" name="Text Box 18"/>
          <p:cNvSpPr txBox="1">
            <a:spLocks noChangeArrowheads="1"/>
          </p:cNvSpPr>
          <p:nvPr/>
        </p:nvSpPr>
        <p:spPr bwMode="auto">
          <a:xfrm>
            <a:off x="2640013" y="2205038"/>
            <a:ext cx="7200900" cy="925512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PT" b="1">
                <a:latin typeface="Courier New" pitchFamily="49" charset="0"/>
              </a:rPr>
              <a:t>  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>
                <a:latin typeface="Courier New" pitchFamily="49" charset="0"/>
              </a:rPr>
              <a:t>p1;</a:t>
            </a:r>
          </a:p>
          <a:p>
            <a:r>
              <a:rPr lang="pt-PT" b="1">
                <a:latin typeface="Courier New" pitchFamily="49" charset="0"/>
              </a:rPr>
              <a:t>  p1 = (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>
                <a:latin typeface="Courier New" pitchFamily="49" charset="0"/>
              </a:rPr>
              <a:t>)malloc(</a:t>
            </a:r>
            <a:r>
              <a:rPr lang="pt-PT" b="1">
                <a:solidFill>
                  <a:srgbClr val="CC0000"/>
                </a:solidFill>
                <a:latin typeface="Courier New" pitchFamily="49" charset="0"/>
              </a:rPr>
              <a:t>4</a:t>
            </a:r>
            <a:r>
              <a:rPr lang="pt-PT" b="1">
                <a:latin typeface="Courier New" pitchFamily="49" charset="0"/>
              </a:rPr>
              <a:t>*sizeof(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>
                <a:latin typeface="Courier New" pitchFamily="49" charset="0"/>
              </a:rPr>
              <a:t>));</a:t>
            </a:r>
          </a:p>
          <a:p>
            <a:endParaRPr lang="pt-PT" b="1">
              <a:latin typeface="Courier New" pitchFamily="49" charset="0"/>
            </a:endParaRPr>
          </a:p>
        </p:txBody>
      </p:sp>
      <p:sp>
        <p:nvSpPr>
          <p:cNvPr id="2" name="Retângulo de cantos arredondados 1"/>
          <p:cNvSpPr/>
          <p:nvPr/>
        </p:nvSpPr>
        <p:spPr>
          <a:xfrm>
            <a:off x="2911121" y="5985284"/>
            <a:ext cx="1917303" cy="5040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Endereço</a:t>
            </a:r>
          </a:p>
        </p:txBody>
      </p:sp>
      <p:cxnSp>
        <p:nvCxnSpPr>
          <p:cNvPr id="4" name="Conector de seta reta 3"/>
          <p:cNvCxnSpPr>
            <a:stCxn id="2" idx="0"/>
          </p:cNvCxnSpPr>
          <p:nvPr/>
        </p:nvCxnSpPr>
        <p:spPr>
          <a:xfrm flipH="1" flipV="1">
            <a:off x="3026570" y="4894264"/>
            <a:ext cx="843203" cy="10910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>
            <a:stCxn id="2" idx="0"/>
          </p:cNvCxnSpPr>
          <p:nvPr/>
        </p:nvCxnSpPr>
        <p:spPr>
          <a:xfrm flipV="1">
            <a:off x="3869773" y="5351464"/>
            <a:ext cx="958651" cy="6338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2" idx="0"/>
          </p:cNvCxnSpPr>
          <p:nvPr/>
        </p:nvCxnSpPr>
        <p:spPr>
          <a:xfrm flipV="1">
            <a:off x="3869772" y="5351464"/>
            <a:ext cx="2586268" cy="6338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2" idx="0"/>
            <a:endCxn id="105482" idx="2"/>
          </p:cNvCxnSpPr>
          <p:nvPr/>
        </p:nvCxnSpPr>
        <p:spPr>
          <a:xfrm flipV="1">
            <a:off x="3869773" y="5354082"/>
            <a:ext cx="4087029" cy="6312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2" idx="0"/>
            <a:endCxn id="105483" idx="2"/>
          </p:cNvCxnSpPr>
          <p:nvPr/>
        </p:nvCxnSpPr>
        <p:spPr>
          <a:xfrm flipV="1">
            <a:off x="3869772" y="5354082"/>
            <a:ext cx="5526892" cy="6312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tângulo de cantos arredondados 28"/>
          <p:cNvSpPr/>
          <p:nvPr/>
        </p:nvSpPr>
        <p:spPr>
          <a:xfrm>
            <a:off x="4538738" y="3409132"/>
            <a:ext cx="2916163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Informação armazenada no endereço</a:t>
            </a:r>
          </a:p>
        </p:txBody>
      </p:sp>
      <p:cxnSp>
        <p:nvCxnSpPr>
          <p:cNvPr id="15" name="Conector de seta reta 14"/>
          <p:cNvCxnSpPr>
            <a:stCxn id="29" idx="1"/>
          </p:cNvCxnSpPr>
          <p:nvPr/>
        </p:nvCxnSpPr>
        <p:spPr>
          <a:xfrm flipH="1">
            <a:off x="3448171" y="3661160"/>
            <a:ext cx="1090566" cy="4159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29" idx="2"/>
          </p:cNvCxnSpPr>
          <p:nvPr/>
        </p:nvCxnSpPr>
        <p:spPr>
          <a:xfrm flipH="1">
            <a:off x="5295107" y="3913188"/>
            <a:ext cx="701712" cy="647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29" idx="2"/>
          </p:cNvCxnSpPr>
          <p:nvPr/>
        </p:nvCxnSpPr>
        <p:spPr>
          <a:xfrm>
            <a:off x="5996819" y="3913188"/>
            <a:ext cx="554794" cy="647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29" idx="2"/>
          </p:cNvCxnSpPr>
          <p:nvPr/>
        </p:nvCxnSpPr>
        <p:spPr>
          <a:xfrm>
            <a:off x="5996819" y="3913188"/>
            <a:ext cx="1994656" cy="647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29" idx="2"/>
          </p:cNvCxnSpPr>
          <p:nvPr/>
        </p:nvCxnSpPr>
        <p:spPr>
          <a:xfrm>
            <a:off x="5996820" y="3913188"/>
            <a:ext cx="3434519" cy="6143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48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/>
              <a:t>Exemplo: Alocando dois vetores de inteiros</a:t>
            </a: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4575176" y="4370388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4575176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4007112</a:t>
            </a:r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6015038" y="43703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55" name="Rectangle 7"/>
          <p:cNvSpPr>
            <a:spLocks noChangeArrowheads="1"/>
          </p:cNvSpPr>
          <p:nvPr/>
        </p:nvSpPr>
        <p:spPr bwMode="auto">
          <a:xfrm>
            <a:off x="7454901" y="4370388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56" name="Rectangle 8"/>
          <p:cNvSpPr>
            <a:spLocks noChangeArrowheads="1"/>
          </p:cNvSpPr>
          <p:nvPr/>
        </p:nvSpPr>
        <p:spPr bwMode="auto">
          <a:xfrm>
            <a:off x="8894763" y="43703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6015039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4007116</a:t>
            </a:r>
          </a:p>
        </p:txBody>
      </p:sp>
      <p:sp>
        <p:nvSpPr>
          <p:cNvPr id="104458" name="Text Box 10"/>
          <p:cNvSpPr txBox="1">
            <a:spLocks noChangeArrowheads="1"/>
          </p:cNvSpPr>
          <p:nvPr/>
        </p:nvSpPr>
        <p:spPr bwMode="auto">
          <a:xfrm>
            <a:off x="7454901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4007120</a:t>
            </a:r>
          </a:p>
        </p:txBody>
      </p:sp>
      <p:sp>
        <p:nvSpPr>
          <p:cNvPr id="104459" name="Text Box 11"/>
          <p:cNvSpPr txBox="1">
            <a:spLocks noChangeArrowheads="1"/>
          </p:cNvSpPr>
          <p:nvPr/>
        </p:nvSpPr>
        <p:spPr bwMode="auto">
          <a:xfrm>
            <a:off x="8894764" y="49847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4007124</a:t>
            </a:r>
          </a:p>
        </p:txBody>
      </p:sp>
      <p:sp>
        <p:nvSpPr>
          <p:cNvPr id="104460" name="Rectangle 12"/>
          <p:cNvSpPr>
            <a:spLocks noChangeArrowheads="1"/>
          </p:cNvSpPr>
          <p:nvPr/>
        </p:nvSpPr>
        <p:spPr bwMode="auto">
          <a:xfrm>
            <a:off x="2208213" y="39131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 dirty="0">
                <a:solidFill>
                  <a:srgbClr val="A50021"/>
                </a:solidFill>
              </a:rPr>
              <a:t>4007112</a:t>
            </a:r>
          </a:p>
        </p:txBody>
      </p:sp>
      <p:sp>
        <p:nvSpPr>
          <p:cNvPr id="104461" name="Text Box 13"/>
          <p:cNvSpPr txBox="1">
            <a:spLocks noChangeArrowheads="1"/>
          </p:cNvSpPr>
          <p:nvPr/>
        </p:nvSpPr>
        <p:spPr bwMode="auto">
          <a:xfrm>
            <a:off x="2208214" y="45275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2293620</a:t>
            </a:r>
          </a:p>
        </p:txBody>
      </p:sp>
      <p:sp>
        <p:nvSpPr>
          <p:cNvPr id="104462" name="Text Box 14"/>
          <p:cNvSpPr txBox="1">
            <a:spLocks noChangeArrowheads="1"/>
          </p:cNvSpPr>
          <p:nvPr/>
        </p:nvSpPr>
        <p:spPr bwMode="auto">
          <a:xfrm>
            <a:off x="2295525" y="3500438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BR" sz="2400" b="1">
                <a:latin typeface="Courier New" pitchFamily="49" charset="0"/>
              </a:rPr>
              <a:t> *p1</a:t>
            </a:r>
          </a:p>
        </p:txBody>
      </p:sp>
      <p:sp>
        <p:nvSpPr>
          <p:cNvPr id="104465" name="Line 17"/>
          <p:cNvSpPr>
            <a:spLocks noChangeShapeType="1"/>
          </p:cNvSpPr>
          <p:nvPr/>
        </p:nvSpPr>
        <p:spPr bwMode="auto">
          <a:xfrm>
            <a:off x="3648075" y="4221164"/>
            <a:ext cx="935038" cy="528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4466" name="Text Box 18"/>
          <p:cNvSpPr txBox="1">
            <a:spLocks noChangeArrowheads="1"/>
          </p:cNvSpPr>
          <p:nvPr/>
        </p:nvSpPr>
        <p:spPr bwMode="auto">
          <a:xfrm>
            <a:off x="2640013" y="2205038"/>
            <a:ext cx="7200900" cy="925512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PT" b="1">
                <a:latin typeface="Courier New" pitchFamily="49" charset="0"/>
              </a:rPr>
              <a:t>  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>
                <a:latin typeface="Courier New" pitchFamily="49" charset="0"/>
              </a:rPr>
              <a:t>p1,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*</a:t>
            </a:r>
            <a:r>
              <a:rPr lang="pt-PT" b="1">
                <a:latin typeface="Courier New" pitchFamily="49" charset="0"/>
              </a:rPr>
              <a:t>p2;</a:t>
            </a:r>
          </a:p>
          <a:p>
            <a:r>
              <a:rPr lang="pt-PT" b="1">
                <a:latin typeface="Courier New" pitchFamily="49" charset="0"/>
              </a:rPr>
              <a:t>  p1 = (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>
                <a:latin typeface="Courier New" pitchFamily="49" charset="0"/>
              </a:rPr>
              <a:t>)malloc(</a:t>
            </a:r>
            <a:r>
              <a:rPr lang="pt-PT" b="1">
                <a:solidFill>
                  <a:srgbClr val="CC0000"/>
                </a:solidFill>
                <a:latin typeface="Courier New" pitchFamily="49" charset="0"/>
              </a:rPr>
              <a:t>4</a:t>
            </a:r>
            <a:r>
              <a:rPr lang="pt-PT" b="1">
                <a:latin typeface="Courier New" pitchFamily="49" charset="0"/>
              </a:rPr>
              <a:t>*sizeof(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>
                <a:latin typeface="Courier New" pitchFamily="49" charset="0"/>
              </a:rPr>
              <a:t>));</a:t>
            </a:r>
          </a:p>
          <a:p>
            <a:r>
              <a:rPr lang="pt-PT">
                <a:latin typeface="Courier New" pitchFamily="49" charset="0"/>
              </a:rPr>
              <a:t>  </a:t>
            </a:r>
            <a:r>
              <a:rPr lang="pt-PT" b="1">
                <a:latin typeface="Courier New" pitchFamily="49" charset="0"/>
              </a:rPr>
              <a:t>p2 = (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>
                <a:latin typeface="Courier New" pitchFamily="49" charset="0"/>
              </a:rPr>
              <a:t>)malloc(</a:t>
            </a:r>
            <a:r>
              <a:rPr lang="pt-PT" b="1">
                <a:solidFill>
                  <a:srgbClr val="CC0000"/>
                </a:solidFill>
                <a:latin typeface="Courier New" pitchFamily="49" charset="0"/>
              </a:rPr>
              <a:t>4</a:t>
            </a:r>
            <a:r>
              <a:rPr lang="pt-PT" b="1">
                <a:latin typeface="Courier New" pitchFamily="49" charset="0"/>
              </a:rPr>
              <a:t>*sizeof(</a:t>
            </a:r>
            <a:r>
              <a:rPr lang="pt-PT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>
                <a:latin typeface="Courier New" pitchFamily="49" charset="0"/>
              </a:rPr>
              <a:t>));</a:t>
            </a:r>
          </a:p>
        </p:txBody>
      </p:sp>
      <p:sp>
        <p:nvSpPr>
          <p:cNvPr id="104467" name="Rectangle 19"/>
          <p:cNvSpPr>
            <a:spLocks noChangeArrowheads="1"/>
          </p:cNvSpPr>
          <p:nvPr/>
        </p:nvSpPr>
        <p:spPr bwMode="auto">
          <a:xfrm>
            <a:off x="4575176" y="5811838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68" name="Text Box 20"/>
          <p:cNvSpPr txBox="1">
            <a:spLocks noChangeArrowheads="1"/>
          </p:cNvSpPr>
          <p:nvPr/>
        </p:nvSpPr>
        <p:spPr bwMode="auto">
          <a:xfrm>
            <a:off x="4575176" y="642620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4007136</a:t>
            </a:r>
          </a:p>
        </p:txBody>
      </p:sp>
      <p:sp>
        <p:nvSpPr>
          <p:cNvPr id="104469" name="Rectangle 21"/>
          <p:cNvSpPr>
            <a:spLocks noChangeArrowheads="1"/>
          </p:cNvSpPr>
          <p:nvPr/>
        </p:nvSpPr>
        <p:spPr bwMode="auto">
          <a:xfrm>
            <a:off x="6015038" y="581183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70" name="Rectangle 22"/>
          <p:cNvSpPr>
            <a:spLocks noChangeArrowheads="1"/>
          </p:cNvSpPr>
          <p:nvPr/>
        </p:nvSpPr>
        <p:spPr bwMode="auto">
          <a:xfrm>
            <a:off x="7454901" y="5811838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71" name="Rectangle 23"/>
          <p:cNvSpPr>
            <a:spLocks noChangeArrowheads="1"/>
          </p:cNvSpPr>
          <p:nvPr/>
        </p:nvSpPr>
        <p:spPr bwMode="auto">
          <a:xfrm>
            <a:off x="8894763" y="581183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4472" name="Text Box 24"/>
          <p:cNvSpPr txBox="1">
            <a:spLocks noChangeArrowheads="1"/>
          </p:cNvSpPr>
          <p:nvPr/>
        </p:nvSpPr>
        <p:spPr bwMode="auto">
          <a:xfrm>
            <a:off x="6015039" y="642620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4007140</a:t>
            </a:r>
          </a:p>
        </p:txBody>
      </p:sp>
      <p:sp>
        <p:nvSpPr>
          <p:cNvPr id="104473" name="Text Box 25"/>
          <p:cNvSpPr txBox="1">
            <a:spLocks noChangeArrowheads="1"/>
          </p:cNvSpPr>
          <p:nvPr/>
        </p:nvSpPr>
        <p:spPr bwMode="auto">
          <a:xfrm>
            <a:off x="7454901" y="642620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4007144</a:t>
            </a:r>
          </a:p>
        </p:txBody>
      </p:sp>
      <p:sp>
        <p:nvSpPr>
          <p:cNvPr id="104474" name="Text Box 26"/>
          <p:cNvSpPr txBox="1">
            <a:spLocks noChangeArrowheads="1"/>
          </p:cNvSpPr>
          <p:nvPr/>
        </p:nvSpPr>
        <p:spPr bwMode="auto">
          <a:xfrm>
            <a:off x="8894764" y="642620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4007148</a:t>
            </a:r>
          </a:p>
        </p:txBody>
      </p:sp>
      <p:sp>
        <p:nvSpPr>
          <p:cNvPr id="104475" name="Rectangle 27"/>
          <p:cNvSpPr>
            <a:spLocks noChangeArrowheads="1"/>
          </p:cNvSpPr>
          <p:nvPr/>
        </p:nvSpPr>
        <p:spPr bwMode="auto">
          <a:xfrm>
            <a:off x="2208213" y="535463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>
                <a:solidFill>
                  <a:srgbClr val="A50021"/>
                </a:solidFill>
              </a:rPr>
              <a:t>4007136</a:t>
            </a:r>
          </a:p>
        </p:txBody>
      </p:sp>
      <p:sp>
        <p:nvSpPr>
          <p:cNvPr id="104476" name="Text Box 28"/>
          <p:cNvSpPr txBox="1">
            <a:spLocks noChangeArrowheads="1"/>
          </p:cNvSpPr>
          <p:nvPr/>
        </p:nvSpPr>
        <p:spPr bwMode="auto">
          <a:xfrm>
            <a:off x="2208214" y="596900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1356368</a:t>
            </a:r>
          </a:p>
        </p:txBody>
      </p:sp>
      <p:sp>
        <p:nvSpPr>
          <p:cNvPr id="104477" name="Text Box 29"/>
          <p:cNvSpPr txBox="1">
            <a:spLocks noChangeArrowheads="1"/>
          </p:cNvSpPr>
          <p:nvPr/>
        </p:nvSpPr>
        <p:spPr bwMode="auto">
          <a:xfrm>
            <a:off x="2295525" y="4941888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BR" sz="2400" b="1">
                <a:latin typeface="Courier New" pitchFamily="49" charset="0"/>
              </a:rPr>
              <a:t> *p2</a:t>
            </a:r>
          </a:p>
        </p:txBody>
      </p:sp>
      <p:sp>
        <p:nvSpPr>
          <p:cNvPr id="104480" name="Line 32"/>
          <p:cNvSpPr>
            <a:spLocks noChangeShapeType="1"/>
          </p:cNvSpPr>
          <p:nvPr/>
        </p:nvSpPr>
        <p:spPr bwMode="auto">
          <a:xfrm>
            <a:off x="3648075" y="5661026"/>
            <a:ext cx="935038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9" name="Retângulo de cantos arredondados 28"/>
          <p:cNvSpPr/>
          <p:nvPr/>
        </p:nvSpPr>
        <p:spPr>
          <a:xfrm>
            <a:off x="5807969" y="5373216"/>
            <a:ext cx="2637235" cy="37554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Endereços Sequenciais</a:t>
            </a:r>
          </a:p>
        </p:txBody>
      </p:sp>
      <p:sp>
        <p:nvSpPr>
          <p:cNvPr id="30" name="Retângulo de cantos arredondados 29"/>
          <p:cNvSpPr/>
          <p:nvPr/>
        </p:nvSpPr>
        <p:spPr>
          <a:xfrm>
            <a:off x="1707952" y="2976990"/>
            <a:ext cx="2637235" cy="55861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Endereços </a:t>
            </a:r>
            <a:r>
              <a:rPr lang="pt-BR" b="1" dirty="0"/>
              <a:t>NÃO </a:t>
            </a:r>
            <a:r>
              <a:rPr lang="pt-BR" dirty="0"/>
              <a:t>Sequenciais</a:t>
            </a:r>
          </a:p>
        </p:txBody>
      </p:sp>
      <p:cxnSp>
        <p:nvCxnSpPr>
          <p:cNvPr id="3" name="Conector reto 2"/>
          <p:cNvCxnSpPr/>
          <p:nvPr/>
        </p:nvCxnSpPr>
        <p:spPr>
          <a:xfrm>
            <a:off x="2208213" y="4894263"/>
            <a:ext cx="1073150" cy="0"/>
          </a:xfrm>
          <a:prstGeom prst="lin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33" name="Conector reto 32"/>
          <p:cNvCxnSpPr/>
          <p:nvPr/>
        </p:nvCxnSpPr>
        <p:spPr>
          <a:xfrm>
            <a:off x="2207568" y="6309320"/>
            <a:ext cx="1073150" cy="0"/>
          </a:xfrm>
          <a:prstGeom prst="lin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4583113" y="5351463"/>
            <a:ext cx="53848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Conector reto 35"/>
          <p:cNvCxnSpPr/>
          <p:nvPr/>
        </p:nvCxnSpPr>
        <p:spPr>
          <a:xfrm>
            <a:off x="4583832" y="6741368"/>
            <a:ext cx="53848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Retângulo de cantos arredondados 5"/>
          <p:cNvSpPr/>
          <p:nvPr/>
        </p:nvSpPr>
        <p:spPr>
          <a:xfrm>
            <a:off x="5087889" y="3256294"/>
            <a:ext cx="3728169" cy="6568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/>
              <a:t>Por que existe essa diferença?</a:t>
            </a:r>
          </a:p>
        </p:txBody>
      </p:sp>
      <p:cxnSp>
        <p:nvCxnSpPr>
          <p:cNvPr id="8" name="Conector de seta reta 7"/>
          <p:cNvCxnSpPr>
            <a:stCxn id="6" idx="1"/>
            <a:endCxn id="30" idx="3"/>
          </p:cNvCxnSpPr>
          <p:nvPr/>
        </p:nvCxnSpPr>
        <p:spPr>
          <a:xfrm flipH="1" flipV="1">
            <a:off x="4345186" y="3256295"/>
            <a:ext cx="742702" cy="328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6" idx="2"/>
            <a:endCxn id="29" idx="0"/>
          </p:cNvCxnSpPr>
          <p:nvPr/>
        </p:nvCxnSpPr>
        <p:spPr>
          <a:xfrm>
            <a:off x="6951974" y="3913188"/>
            <a:ext cx="174613" cy="14600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45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79526"/>
            <a:ext cx="8229600" cy="4525963"/>
          </a:xfrm>
        </p:spPr>
        <p:txBody>
          <a:bodyPr/>
          <a:lstStyle/>
          <a:p>
            <a:r>
              <a:rPr lang="pt-BR" sz="2400" b="1" dirty="0"/>
              <a:t>Exemplo: Alocando N vetores de inteiros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4575176" y="2282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4575176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4007112</a:t>
            </a:r>
          </a:p>
        </p:txBody>
      </p:sp>
      <p:sp>
        <p:nvSpPr>
          <p:cNvPr id="107526" name="Rectangle 6"/>
          <p:cNvSpPr>
            <a:spLocks noChangeArrowheads="1"/>
          </p:cNvSpPr>
          <p:nvPr/>
        </p:nvSpPr>
        <p:spPr bwMode="auto">
          <a:xfrm>
            <a:off x="6015038" y="2282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7454901" y="2282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28" name="Rectangle 8"/>
          <p:cNvSpPr>
            <a:spLocks noChangeArrowheads="1"/>
          </p:cNvSpPr>
          <p:nvPr/>
        </p:nvSpPr>
        <p:spPr bwMode="auto">
          <a:xfrm>
            <a:off x="8894763" y="2282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6015039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4007116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7454901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4007120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8894764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4007124</a:t>
            </a:r>
          </a:p>
        </p:txBody>
      </p:sp>
      <p:sp>
        <p:nvSpPr>
          <p:cNvPr id="107532" name="Rectangle 12"/>
          <p:cNvSpPr>
            <a:spLocks noChangeArrowheads="1"/>
          </p:cNvSpPr>
          <p:nvPr/>
        </p:nvSpPr>
        <p:spPr bwMode="auto">
          <a:xfrm>
            <a:off x="2208213" y="22574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 dirty="0">
                <a:solidFill>
                  <a:srgbClr val="A50021"/>
                </a:solidFill>
              </a:rPr>
              <a:t>4007112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2208214" y="28717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2293620</a:t>
            </a: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2295525" y="1844675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BR" sz="2400" b="1">
                <a:latin typeface="Courier New" pitchFamily="49" charset="0"/>
              </a:rPr>
              <a:t> *p1</a:t>
            </a:r>
          </a:p>
        </p:txBody>
      </p:sp>
      <p:sp>
        <p:nvSpPr>
          <p:cNvPr id="107537" name="Line 17"/>
          <p:cNvSpPr>
            <a:spLocks noChangeShapeType="1"/>
          </p:cNvSpPr>
          <p:nvPr/>
        </p:nvSpPr>
        <p:spPr bwMode="auto">
          <a:xfrm>
            <a:off x="3648075" y="2616200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539" name="Rectangle 19"/>
          <p:cNvSpPr>
            <a:spLocks noChangeArrowheads="1"/>
          </p:cNvSpPr>
          <p:nvPr/>
        </p:nvSpPr>
        <p:spPr bwMode="auto">
          <a:xfrm>
            <a:off x="4575176" y="3695700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4575176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4007136</a:t>
            </a:r>
          </a:p>
        </p:txBody>
      </p:sp>
      <p:sp>
        <p:nvSpPr>
          <p:cNvPr id="107541" name="Rectangle 21"/>
          <p:cNvSpPr>
            <a:spLocks noChangeArrowheads="1"/>
          </p:cNvSpPr>
          <p:nvPr/>
        </p:nvSpPr>
        <p:spPr bwMode="auto">
          <a:xfrm>
            <a:off x="6015038" y="3695700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42" name="Rectangle 22"/>
          <p:cNvSpPr>
            <a:spLocks noChangeArrowheads="1"/>
          </p:cNvSpPr>
          <p:nvPr/>
        </p:nvSpPr>
        <p:spPr bwMode="auto">
          <a:xfrm>
            <a:off x="7454901" y="3695700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43" name="Rectangle 23"/>
          <p:cNvSpPr>
            <a:spLocks noChangeArrowheads="1"/>
          </p:cNvSpPr>
          <p:nvPr/>
        </p:nvSpPr>
        <p:spPr bwMode="auto">
          <a:xfrm>
            <a:off x="8894763" y="3695700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44" name="Text Box 24"/>
          <p:cNvSpPr txBox="1">
            <a:spLocks noChangeArrowheads="1"/>
          </p:cNvSpPr>
          <p:nvPr/>
        </p:nvSpPr>
        <p:spPr bwMode="auto">
          <a:xfrm>
            <a:off x="6015039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4007140</a:t>
            </a:r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7454901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4007144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8894764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4007148</a:t>
            </a:r>
          </a:p>
        </p:txBody>
      </p:sp>
      <p:sp>
        <p:nvSpPr>
          <p:cNvPr id="107547" name="Rectangle 27"/>
          <p:cNvSpPr>
            <a:spLocks noChangeArrowheads="1"/>
          </p:cNvSpPr>
          <p:nvPr/>
        </p:nvSpPr>
        <p:spPr bwMode="auto">
          <a:xfrm>
            <a:off x="2208213" y="3697288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>
                <a:solidFill>
                  <a:srgbClr val="A50021"/>
                </a:solidFill>
              </a:rPr>
              <a:t>4007136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2208214" y="4311650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1356368</a:t>
            </a:r>
          </a:p>
        </p:txBody>
      </p:sp>
      <p:sp>
        <p:nvSpPr>
          <p:cNvPr id="107549" name="Text Box 29"/>
          <p:cNvSpPr txBox="1">
            <a:spLocks noChangeArrowheads="1"/>
          </p:cNvSpPr>
          <p:nvPr/>
        </p:nvSpPr>
        <p:spPr bwMode="auto">
          <a:xfrm>
            <a:off x="2295525" y="3284538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BR" sz="2400" b="1">
                <a:latin typeface="Courier New" pitchFamily="49" charset="0"/>
              </a:rPr>
              <a:t> *p2</a:t>
            </a:r>
          </a:p>
        </p:txBody>
      </p:sp>
      <p:sp>
        <p:nvSpPr>
          <p:cNvPr id="107552" name="Line 32"/>
          <p:cNvSpPr>
            <a:spLocks noChangeShapeType="1"/>
          </p:cNvSpPr>
          <p:nvPr/>
        </p:nvSpPr>
        <p:spPr bwMode="auto">
          <a:xfrm>
            <a:off x="3648075" y="4054475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582" name="Rectangle 62"/>
          <p:cNvSpPr>
            <a:spLocks noChangeArrowheads="1"/>
          </p:cNvSpPr>
          <p:nvPr/>
        </p:nvSpPr>
        <p:spPr bwMode="auto">
          <a:xfrm>
            <a:off x="4575176" y="5711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83" name="Text Box 63"/>
          <p:cNvSpPr txBox="1">
            <a:spLocks noChangeArrowheads="1"/>
          </p:cNvSpPr>
          <p:nvPr/>
        </p:nvSpPr>
        <p:spPr bwMode="auto">
          <a:xfrm>
            <a:off x="4575175" y="6326188"/>
            <a:ext cx="284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</a:t>
            </a:r>
          </a:p>
        </p:txBody>
      </p:sp>
      <p:sp>
        <p:nvSpPr>
          <p:cNvPr id="107584" name="Rectangle 64"/>
          <p:cNvSpPr>
            <a:spLocks noChangeArrowheads="1"/>
          </p:cNvSpPr>
          <p:nvPr/>
        </p:nvSpPr>
        <p:spPr bwMode="auto">
          <a:xfrm>
            <a:off x="6015038" y="5711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85" name="Rectangle 65"/>
          <p:cNvSpPr>
            <a:spLocks noChangeArrowheads="1"/>
          </p:cNvSpPr>
          <p:nvPr/>
        </p:nvSpPr>
        <p:spPr bwMode="auto">
          <a:xfrm>
            <a:off x="7454901" y="5711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86" name="Rectangle 66"/>
          <p:cNvSpPr>
            <a:spLocks noChangeArrowheads="1"/>
          </p:cNvSpPr>
          <p:nvPr/>
        </p:nvSpPr>
        <p:spPr bwMode="auto">
          <a:xfrm>
            <a:off x="8894763" y="5711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7587" name="Text Box 67"/>
          <p:cNvSpPr txBox="1">
            <a:spLocks noChangeArrowheads="1"/>
          </p:cNvSpPr>
          <p:nvPr/>
        </p:nvSpPr>
        <p:spPr bwMode="auto">
          <a:xfrm>
            <a:off x="6015038" y="6326188"/>
            <a:ext cx="516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x+4</a:t>
            </a:r>
          </a:p>
        </p:txBody>
      </p:sp>
      <p:sp>
        <p:nvSpPr>
          <p:cNvPr id="107588" name="Text Box 68"/>
          <p:cNvSpPr txBox="1">
            <a:spLocks noChangeArrowheads="1"/>
          </p:cNvSpPr>
          <p:nvPr/>
        </p:nvSpPr>
        <p:spPr bwMode="auto">
          <a:xfrm>
            <a:off x="7454900" y="6326188"/>
            <a:ext cx="516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x+8</a:t>
            </a:r>
          </a:p>
        </p:txBody>
      </p:sp>
      <p:sp>
        <p:nvSpPr>
          <p:cNvPr id="107589" name="Text Box 69"/>
          <p:cNvSpPr txBox="1">
            <a:spLocks noChangeArrowheads="1"/>
          </p:cNvSpPr>
          <p:nvPr/>
        </p:nvSpPr>
        <p:spPr bwMode="auto">
          <a:xfrm>
            <a:off x="8894764" y="6326188"/>
            <a:ext cx="6335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x+12</a:t>
            </a:r>
          </a:p>
        </p:txBody>
      </p:sp>
      <p:sp>
        <p:nvSpPr>
          <p:cNvPr id="107590" name="Rectangle 70"/>
          <p:cNvSpPr>
            <a:spLocks noChangeArrowheads="1"/>
          </p:cNvSpPr>
          <p:nvPr/>
        </p:nvSpPr>
        <p:spPr bwMode="auto">
          <a:xfrm>
            <a:off x="2208213" y="5713413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x</a:t>
            </a:r>
          </a:p>
        </p:txBody>
      </p:sp>
      <p:sp>
        <p:nvSpPr>
          <p:cNvPr id="107591" name="Text Box 71"/>
          <p:cNvSpPr txBox="1">
            <a:spLocks noChangeArrowheads="1"/>
          </p:cNvSpPr>
          <p:nvPr/>
        </p:nvSpPr>
        <p:spPr bwMode="auto">
          <a:xfrm>
            <a:off x="2208213" y="632777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y</a:t>
            </a:r>
          </a:p>
        </p:txBody>
      </p:sp>
      <p:sp>
        <p:nvSpPr>
          <p:cNvPr id="107592" name="Text Box 72"/>
          <p:cNvSpPr txBox="1">
            <a:spLocks noChangeArrowheads="1"/>
          </p:cNvSpPr>
          <p:nvPr/>
        </p:nvSpPr>
        <p:spPr bwMode="auto">
          <a:xfrm>
            <a:off x="2295525" y="5300663"/>
            <a:ext cx="146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BR" sz="2400" b="1">
                <a:latin typeface="Courier New" pitchFamily="49" charset="0"/>
              </a:rPr>
              <a:t> *pn</a:t>
            </a:r>
          </a:p>
        </p:txBody>
      </p:sp>
      <p:sp>
        <p:nvSpPr>
          <p:cNvPr id="107595" name="Line 75"/>
          <p:cNvSpPr>
            <a:spLocks noChangeShapeType="1"/>
          </p:cNvSpPr>
          <p:nvPr/>
        </p:nvSpPr>
        <p:spPr bwMode="auto">
          <a:xfrm>
            <a:off x="3648075" y="6072188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7596" name="Line 76"/>
          <p:cNvSpPr>
            <a:spLocks noChangeShapeType="1"/>
          </p:cNvSpPr>
          <p:nvPr/>
        </p:nvSpPr>
        <p:spPr bwMode="auto">
          <a:xfrm>
            <a:off x="2855913" y="4724401"/>
            <a:ext cx="0" cy="576263"/>
          </a:xfrm>
          <a:prstGeom prst="line">
            <a:avLst/>
          </a:prstGeom>
          <a:noFill/>
          <a:ln w="28575" cap="rnd">
            <a:solidFill>
              <a:srgbClr val="3333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1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79526"/>
            <a:ext cx="8229600" cy="4525963"/>
          </a:xfrm>
        </p:spPr>
        <p:txBody>
          <a:bodyPr/>
          <a:lstStyle/>
          <a:p>
            <a:r>
              <a:rPr lang="pt-BR" sz="2400" b="1"/>
              <a:t>N vetores = vetor de vetores</a:t>
            </a: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4575176" y="2282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4575176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4007112</a:t>
            </a:r>
          </a:p>
        </p:txBody>
      </p:sp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6015038" y="2282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51" name="Rectangle 7"/>
          <p:cNvSpPr>
            <a:spLocks noChangeArrowheads="1"/>
          </p:cNvSpPr>
          <p:nvPr/>
        </p:nvSpPr>
        <p:spPr bwMode="auto">
          <a:xfrm>
            <a:off x="7454901" y="2282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52" name="Rectangle 8"/>
          <p:cNvSpPr>
            <a:spLocks noChangeArrowheads="1"/>
          </p:cNvSpPr>
          <p:nvPr/>
        </p:nvSpPr>
        <p:spPr bwMode="auto">
          <a:xfrm>
            <a:off x="8894763" y="2282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6015039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4007116</a:t>
            </a:r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7454901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4007120</a:t>
            </a: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8894764" y="2897188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4007124</a:t>
            </a:r>
          </a:p>
        </p:txBody>
      </p:sp>
      <p:sp>
        <p:nvSpPr>
          <p:cNvPr id="108556" name="Rectangle 12"/>
          <p:cNvSpPr>
            <a:spLocks noChangeArrowheads="1"/>
          </p:cNvSpPr>
          <p:nvPr/>
        </p:nvSpPr>
        <p:spPr bwMode="auto">
          <a:xfrm>
            <a:off x="2208213" y="227647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 dirty="0">
                <a:solidFill>
                  <a:srgbClr val="A50021"/>
                </a:solidFill>
              </a:rPr>
              <a:t>4007112</a:t>
            </a:r>
          </a:p>
        </p:txBody>
      </p:sp>
      <p:sp>
        <p:nvSpPr>
          <p:cNvPr id="108558" name="Text Box 14"/>
          <p:cNvSpPr txBox="1">
            <a:spLocks noChangeArrowheads="1"/>
          </p:cNvSpPr>
          <p:nvPr/>
        </p:nvSpPr>
        <p:spPr bwMode="auto">
          <a:xfrm>
            <a:off x="2135188" y="1844675"/>
            <a:ext cx="78790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 b="1" dirty="0" err="1">
                <a:solidFill>
                  <a:schemeClr val="accent1"/>
                </a:solidFill>
                <a:latin typeface="Courier New" pitchFamily="49" charset="0"/>
              </a:rPr>
              <a:t>int</a:t>
            </a:r>
            <a:r>
              <a:rPr lang="pt-BR" sz="2000" b="1" dirty="0">
                <a:solidFill>
                  <a:schemeClr val="accent1"/>
                </a:solidFill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**p = (</a:t>
            </a:r>
            <a:r>
              <a:rPr lang="pt-BR" sz="2000" b="1" dirty="0" err="1">
                <a:solidFill>
                  <a:schemeClr val="accent1"/>
                </a:solidFill>
                <a:latin typeface="Courier New" pitchFamily="49" charset="0"/>
              </a:rPr>
              <a:t>int</a:t>
            </a:r>
            <a:r>
              <a:rPr lang="pt-BR" sz="2000" b="1" dirty="0">
                <a:solidFill>
                  <a:schemeClr val="accent1"/>
                </a:solidFill>
                <a:latin typeface="Courier New" pitchFamily="49" charset="0"/>
              </a:rPr>
              <a:t> </a:t>
            </a:r>
            <a:r>
              <a:rPr lang="pt-BR" sz="2000" b="1" dirty="0">
                <a:latin typeface="Courier New" pitchFamily="49" charset="0"/>
              </a:rPr>
              <a:t>**)</a:t>
            </a:r>
            <a:r>
              <a:rPr lang="pt-BR" sz="2000" b="1" dirty="0" err="1">
                <a:latin typeface="Courier New" pitchFamily="49" charset="0"/>
              </a:rPr>
              <a:t>malloc</a:t>
            </a:r>
            <a:r>
              <a:rPr lang="pt-BR" sz="2000" b="1" dirty="0">
                <a:latin typeface="Courier New" pitchFamily="49" charset="0"/>
              </a:rPr>
              <a:t>(</a:t>
            </a:r>
            <a:r>
              <a:rPr lang="pt-BR" sz="2000" b="1" dirty="0" err="1">
                <a:latin typeface="Courier New" pitchFamily="49" charset="0"/>
              </a:rPr>
              <a:t>sizeof</a:t>
            </a:r>
            <a:r>
              <a:rPr lang="pt-BR" sz="2000" b="1" dirty="0">
                <a:latin typeface="Courier New" pitchFamily="49" charset="0"/>
              </a:rPr>
              <a:t>(</a:t>
            </a:r>
            <a:r>
              <a:rPr lang="pt-BR" sz="2000" b="1" dirty="0" err="1">
                <a:latin typeface="Courier New" pitchFamily="49" charset="0"/>
              </a:rPr>
              <a:t>int</a:t>
            </a:r>
            <a:r>
              <a:rPr lang="pt-BR" sz="2000" b="1" dirty="0">
                <a:latin typeface="Courier New" pitchFamily="49" charset="0"/>
              </a:rPr>
              <a:t> *) * </a:t>
            </a:r>
            <a:r>
              <a:rPr lang="pt-BR" sz="2000" b="1" dirty="0" err="1">
                <a:latin typeface="Courier New" pitchFamily="49" charset="0"/>
              </a:rPr>
              <a:t>nLinhas</a:t>
            </a:r>
            <a:r>
              <a:rPr lang="pt-BR" sz="2000" b="1" dirty="0">
                <a:latin typeface="Courier New" pitchFamily="49" charset="0"/>
              </a:rPr>
              <a:t>);</a:t>
            </a:r>
          </a:p>
        </p:txBody>
      </p:sp>
      <p:sp>
        <p:nvSpPr>
          <p:cNvPr id="108559" name="Line 15"/>
          <p:cNvSpPr>
            <a:spLocks noChangeShapeType="1"/>
          </p:cNvSpPr>
          <p:nvPr/>
        </p:nvSpPr>
        <p:spPr bwMode="auto">
          <a:xfrm>
            <a:off x="3648075" y="2616200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8560" name="Rectangle 16"/>
          <p:cNvSpPr>
            <a:spLocks noChangeArrowheads="1"/>
          </p:cNvSpPr>
          <p:nvPr/>
        </p:nvSpPr>
        <p:spPr bwMode="auto">
          <a:xfrm>
            <a:off x="4575176" y="3695700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61" name="Text Box 17"/>
          <p:cNvSpPr txBox="1">
            <a:spLocks noChangeArrowheads="1"/>
          </p:cNvSpPr>
          <p:nvPr/>
        </p:nvSpPr>
        <p:spPr bwMode="auto">
          <a:xfrm>
            <a:off x="4575176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4007136</a:t>
            </a:r>
          </a:p>
        </p:txBody>
      </p:sp>
      <p:sp>
        <p:nvSpPr>
          <p:cNvPr id="108562" name="Rectangle 18"/>
          <p:cNvSpPr>
            <a:spLocks noChangeArrowheads="1"/>
          </p:cNvSpPr>
          <p:nvPr/>
        </p:nvSpPr>
        <p:spPr bwMode="auto">
          <a:xfrm>
            <a:off x="6015038" y="3695700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63" name="Rectangle 19"/>
          <p:cNvSpPr>
            <a:spLocks noChangeArrowheads="1"/>
          </p:cNvSpPr>
          <p:nvPr/>
        </p:nvSpPr>
        <p:spPr bwMode="auto">
          <a:xfrm>
            <a:off x="7454901" y="3695700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64" name="Rectangle 20"/>
          <p:cNvSpPr>
            <a:spLocks noChangeArrowheads="1"/>
          </p:cNvSpPr>
          <p:nvPr/>
        </p:nvSpPr>
        <p:spPr bwMode="auto">
          <a:xfrm>
            <a:off x="8894763" y="3695700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65" name="Text Box 21"/>
          <p:cNvSpPr txBox="1">
            <a:spLocks noChangeArrowheads="1"/>
          </p:cNvSpPr>
          <p:nvPr/>
        </p:nvSpPr>
        <p:spPr bwMode="auto">
          <a:xfrm>
            <a:off x="6015039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4007140</a:t>
            </a:r>
          </a:p>
        </p:txBody>
      </p:sp>
      <p:sp>
        <p:nvSpPr>
          <p:cNvPr id="108566" name="Text Box 22"/>
          <p:cNvSpPr txBox="1">
            <a:spLocks noChangeArrowheads="1"/>
          </p:cNvSpPr>
          <p:nvPr/>
        </p:nvSpPr>
        <p:spPr bwMode="auto">
          <a:xfrm>
            <a:off x="7454901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4007144</a:t>
            </a:r>
          </a:p>
        </p:txBody>
      </p:sp>
      <p:sp>
        <p:nvSpPr>
          <p:cNvPr id="108567" name="Text Box 23"/>
          <p:cNvSpPr txBox="1">
            <a:spLocks noChangeArrowheads="1"/>
          </p:cNvSpPr>
          <p:nvPr/>
        </p:nvSpPr>
        <p:spPr bwMode="auto">
          <a:xfrm>
            <a:off x="8894764" y="4310063"/>
            <a:ext cx="10038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4007148</a:t>
            </a:r>
          </a:p>
        </p:txBody>
      </p:sp>
      <p:sp>
        <p:nvSpPr>
          <p:cNvPr id="108571" name="Line 27"/>
          <p:cNvSpPr>
            <a:spLocks noChangeShapeType="1"/>
          </p:cNvSpPr>
          <p:nvPr/>
        </p:nvSpPr>
        <p:spPr bwMode="auto">
          <a:xfrm>
            <a:off x="3648075" y="3284539"/>
            <a:ext cx="935038" cy="769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8572" name="Rectangle 28"/>
          <p:cNvSpPr>
            <a:spLocks noChangeArrowheads="1"/>
          </p:cNvSpPr>
          <p:nvPr/>
        </p:nvSpPr>
        <p:spPr bwMode="auto">
          <a:xfrm>
            <a:off x="4575176" y="5711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73" name="Text Box 29"/>
          <p:cNvSpPr txBox="1">
            <a:spLocks noChangeArrowheads="1"/>
          </p:cNvSpPr>
          <p:nvPr/>
        </p:nvSpPr>
        <p:spPr bwMode="auto">
          <a:xfrm>
            <a:off x="4575175" y="6326188"/>
            <a:ext cx="284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</a:t>
            </a:r>
          </a:p>
        </p:txBody>
      </p:sp>
      <p:sp>
        <p:nvSpPr>
          <p:cNvPr id="108574" name="Rectangle 30"/>
          <p:cNvSpPr>
            <a:spLocks noChangeArrowheads="1"/>
          </p:cNvSpPr>
          <p:nvPr/>
        </p:nvSpPr>
        <p:spPr bwMode="auto">
          <a:xfrm>
            <a:off x="6015038" y="5711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75" name="Rectangle 31"/>
          <p:cNvSpPr>
            <a:spLocks noChangeArrowheads="1"/>
          </p:cNvSpPr>
          <p:nvPr/>
        </p:nvSpPr>
        <p:spPr bwMode="auto">
          <a:xfrm>
            <a:off x="7454901" y="5711825"/>
            <a:ext cx="1439863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76" name="Rectangle 32"/>
          <p:cNvSpPr>
            <a:spLocks noChangeArrowheads="1"/>
          </p:cNvSpPr>
          <p:nvPr/>
        </p:nvSpPr>
        <p:spPr bwMode="auto">
          <a:xfrm>
            <a:off x="8894763" y="5711825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?</a:t>
            </a:r>
          </a:p>
        </p:txBody>
      </p: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6015038" y="6326188"/>
            <a:ext cx="516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x+4</a:t>
            </a:r>
          </a:p>
        </p:txBody>
      </p:sp>
      <p:sp>
        <p:nvSpPr>
          <p:cNvPr id="108578" name="Text Box 34"/>
          <p:cNvSpPr txBox="1">
            <a:spLocks noChangeArrowheads="1"/>
          </p:cNvSpPr>
          <p:nvPr/>
        </p:nvSpPr>
        <p:spPr bwMode="auto">
          <a:xfrm>
            <a:off x="7454900" y="6326188"/>
            <a:ext cx="516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x+8</a:t>
            </a:r>
          </a:p>
        </p:txBody>
      </p:sp>
      <p:sp>
        <p:nvSpPr>
          <p:cNvPr id="108579" name="Text Box 35"/>
          <p:cNvSpPr txBox="1">
            <a:spLocks noChangeArrowheads="1"/>
          </p:cNvSpPr>
          <p:nvPr/>
        </p:nvSpPr>
        <p:spPr bwMode="auto">
          <a:xfrm>
            <a:off x="8894764" y="6326188"/>
            <a:ext cx="6335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x+12</a:t>
            </a:r>
          </a:p>
        </p:txBody>
      </p:sp>
      <p:sp>
        <p:nvSpPr>
          <p:cNvPr id="108583" name="Line 39"/>
          <p:cNvSpPr>
            <a:spLocks noChangeShapeType="1"/>
          </p:cNvSpPr>
          <p:nvPr/>
        </p:nvSpPr>
        <p:spPr bwMode="auto">
          <a:xfrm>
            <a:off x="3648075" y="6072188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8585" name="Rectangle 41"/>
          <p:cNvSpPr>
            <a:spLocks noChangeArrowheads="1"/>
          </p:cNvSpPr>
          <p:nvPr/>
        </p:nvSpPr>
        <p:spPr bwMode="auto">
          <a:xfrm>
            <a:off x="2208213" y="3573464"/>
            <a:ext cx="1439862" cy="21605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pt-BR" sz="3200" b="1">
              <a:solidFill>
                <a:srgbClr val="A50021"/>
              </a:solidFill>
            </a:endParaRPr>
          </a:p>
        </p:txBody>
      </p:sp>
      <p:sp>
        <p:nvSpPr>
          <p:cNvPr id="108568" name="Rectangle 24"/>
          <p:cNvSpPr>
            <a:spLocks noChangeArrowheads="1"/>
          </p:cNvSpPr>
          <p:nvPr/>
        </p:nvSpPr>
        <p:spPr bwMode="auto">
          <a:xfrm>
            <a:off x="2208213" y="2925763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2000" b="1">
                <a:solidFill>
                  <a:srgbClr val="A50021"/>
                </a:solidFill>
              </a:rPr>
              <a:t>4007136</a:t>
            </a:r>
          </a:p>
        </p:txBody>
      </p:sp>
      <p:sp>
        <p:nvSpPr>
          <p:cNvPr id="108584" name="Line 40"/>
          <p:cNvSpPr>
            <a:spLocks noChangeShapeType="1"/>
          </p:cNvSpPr>
          <p:nvPr/>
        </p:nvSpPr>
        <p:spPr bwMode="auto">
          <a:xfrm>
            <a:off x="2855913" y="3716338"/>
            <a:ext cx="0" cy="1873250"/>
          </a:xfrm>
          <a:prstGeom prst="line">
            <a:avLst/>
          </a:prstGeom>
          <a:noFill/>
          <a:ln w="28575" cap="rnd">
            <a:solidFill>
              <a:srgbClr val="3333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8580" name="Rectangle 36"/>
          <p:cNvSpPr>
            <a:spLocks noChangeArrowheads="1"/>
          </p:cNvSpPr>
          <p:nvPr/>
        </p:nvSpPr>
        <p:spPr bwMode="auto">
          <a:xfrm>
            <a:off x="2208213" y="5713413"/>
            <a:ext cx="143986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sz="3200" b="1">
                <a:solidFill>
                  <a:srgbClr val="A50021"/>
                </a:solidFill>
              </a:rPr>
              <a:t>x</a:t>
            </a:r>
          </a:p>
        </p:txBody>
      </p:sp>
      <p:cxnSp>
        <p:nvCxnSpPr>
          <p:cNvPr id="6" name="Conector reto 5"/>
          <p:cNvCxnSpPr/>
          <p:nvPr/>
        </p:nvCxnSpPr>
        <p:spPr>
          <a:xfrm>
            <a:off x="2639617" y="2204864"/>
            <a:ext cx="223400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5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Alocação de memória para matrizes:</a:t>
            </a:r>
          </a:p>
          <a:p>
            <a:pPr lvl="1"/>
            <a:r>
              <a:rPr lang="pt-BR" sz="2000" dirty="0"/>
              <a:t>Matriz é um caso particular de vetor, onde os elementos são vetores </a:t>
            </a:r>
            <a:r>
              <a:rPr lang="pt-BR" sz="2000" b="1" dirty="0">
                <a:solidFill>
                  <a:srgbClr val="0000FF"/>
                </a:solidFill>
              </a:rPr>
              <a:t>(vetor de vetores)</a:t>
            </a:r>
            <a:r>
              <a:rPr lang="pt-BR" sz="2000" dirty="0"/>
              <a:t>.</a:t>
            </a:r>
          </a:p>
          <a:p>
            <a:pPr lvl="1"/>
            <a:r>
              <a:rPr lang="pt-BR" sz="2000" dirty="0"/>
              <a:t>Devemos portanto </a:t>
            </a:r>
            <a:r>
              <a:rPr lang="pt-BR" sz="2000" u="sng" dirty="0"/>
              <a:t>alocar</a:t>
            </a:r>
            <a:r>
              <a:rPr lang="pt-BR" sz="2000" dirty="0"/>
              <a:t> um </a:t>
            </a:r>
            <a:r>
              <a:rPr lang="pt-BR" sz="2000" u="sng" dirty="0"/>
              <a:t>vetor de apontadores</a:t>
            </a:r>
            <a:r>
              <a:rPr lang="pt-BR" sz="2000" dirty="0"/>
              <a:t> e depois um vetor de elementos para cada linha.</a:t>
            </a:r>
          </a:p>
          <a:p>
            <a:pPr lvl="1"/>
            <a:r>
              <a:rPr lang="pt-BR" sz="2000" dirty="0"/>
              <a:t>Para alocar um vetor de apontadores dinamicamente é necessário um </a:t>
            </a:r>
            <a:r>
              <a:rPr lang="pt-BR" sz="2000" u="sng" dirty="0"/>
              <a:t>apontador para apontadores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(ponteiro duplo)</a:t>
            </a:r>
            <a:r>
              <a:rPr lang="pt-BR" sz="2000" dirty="0"/>
              <a:t>.</a:t>
            </a:r>
          </a:p>
          <a:p>
            <a:endParaRPr lang="pt-BR" sz="2400" b="1" dirty="0">
              <a:solidFill>
                <a:schemeClr val="accent2"/>
              </a:solidFill>
            </a:endParaRPr>
          </a:p>
          <a:p>
            <a:r>
              <a:rPr lang="pt-BR" sz="2400" b="1" dirty="0" err="1"/>
              <a:t>Desalocar</a:t>
            </a:r>
            <a:r>
              <a:rPr lang="pt-BR" sz="2400" b="1" dirty="0"/>
              <a:t> a memória da matriz:</a:t>
            </a:r>
          </a:p>
          <a:p>
            <a:pPr lvl="1"/>
            <a:r>
              <a:rPr lang="pt-BR" sz="2000" dirty="0"/>
              <a:t>Para </a:t>
            </a:r>
            <a:r>
              <a:rPr lang="pt-BR" sz="2000" u="sng" dirty="0" err="1"/>
              <a:t>desalocar</a:t>
            </a:r>
            <a:r>
              <a:rPr lang="pt-BR" sz="2000" dirty="0"/>
              <a:t> devemos chamar </a:t>
            </a:r>
            <a:r>
              <a:rPr lang="pt-BR" sz="2000" b="1" dirty="0" err="1">
                <a:solidFill>
                  <a:srgbClr val="0000FF"/>
                </a:solidFill>
                <a:latin typeface="Courier New" pitchFamily="49" charset="0"/>
              </a:rPr>
              <a:t>free</a:t>
            </a:r>
            <a:r>
              <a:rPr lang="pt-BR" sz="2000" dirty="0"/>
              <a:t> para cada linha e também para o vetor de apontadores.</a:t>
            </a:r>
            <a:endParaRPr lang="pt-BR" sz="2000" b="1" dirty="0">
              <a:solidFill>
                <a:srgbClr val="0000FF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41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Alocação de memória para matrizes:</a:t>
            </a: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2424114" y="2173288"/>
            <a:ext cx="7272337" cy="4495800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#include &lt;stdio.h&gt;</a:t>
            </a:r>
          </a:p>
          <a:p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#include &lt;stdlib.h&gt;</a:t>
            </a:r>
          </a:p>
          <a:p>
            <a:endParaRPr lang="pt-PT" b="1" dirty="0">
              <a:solidFill>
                <a:srgbClr val="006600"/>
              </a:solidFill>
              <a:latin typeface="Courier New" pitchFamily="49" charset="0"/>
            </a:endParaRPr>
          </a:p>
          <a:p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 dirty="0">
                <a:latin typeface="Courier New" pitchFamily="49" charset="0"/>
              </a:rPr>
              <a:t> main(){</a:t>
            </a:r>
          </a:p>
          <a:p>
            <a:r>
              <a:rPr lang="pt-PT" dirty="0">
                <a:latin typeface="Courier New" pitchFamily="49" charset="0"/>
              </a:rPr>
              <a:t>  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 **</a:t>
            </a:r>
            <a:r>
              <a:rPr lang="pt-PT" b="1" dirty="0">
                <a:latin typeface="Courier New" pitchFamily="49" charset="0"/>
              </a:rPr>
              <a:t>M;</a:t>
            </a:r>
          </a:p>
          <a:p>
            <a:r>
              <a:rPr lang="pt-PT" b="1" dirty="0">
                <a:latin typeface="Courier New" pitchFamily="49" charset="0"/>
              </a:rPr>
              <a:t>  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 dirty="0">
                <a:latin typeface="Courier New" pitchFamily="49" charset="0"/>
              </a:rPr>
              <a:t> i,ncols=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5</a:t>
            </a:r>
            <a:r>
              <a:rPr lang="pt-PT" b="1" dirty="0">
                <a:latin typeface="Courier New" pitchFamily="49" charset="0"/>
              </a:rPr>
              <a:t>,nrows=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6</a:t>
            </a:r>
            <a:r>
              <a:rPr lang="pt-PT" b="1" dirty="0">
                <a:latin typeface="Courier New" pitchFamily="49" charset="0"/>
              </a:rPr>
              <a:t>;</a:t>
            </a:r>
          </a:p>
          <a:p>
            <a:endParaRPr lang="pt-PT" b="1" dirty="0">
              <a:latin typeface="Courier New" pitchFamily="49" charset="0"/>
            </a:endParaRPr>
          </a:p>
          <a:p>
            <a:r>
              <a:rPr lang="pt-PT" b="1" dirty="0">
                <a:latin typeface="Courier New" pitchFamily="49" charset="0"/>
              </a:rPr>
              <a:t>  M = (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 **</a:t>
            </a:r>
            <a:r>
              <a:rPr lang="pt-PT" b="1" dirty="0">
                <a:latin typeface="Courier New" pitchFamily="49" charset="0"/>
              </a:rPr>
              <a:t>)malloc(nrows*sizeof(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 dirty="0">
                <a:latin typeface="Courier New" pitchFamily="49" charset="0"/>
              </a:rPr>
              <a:t>));</a:t>
            </a:r>
          </a:p>
          <a:p>
            <a:r>
              <a:rPr lang="pt-PT" b="1" dirty="0">
                <a:latin typeface="Courier New" pitchFamily="49" charset="0"/>
              </a:rPr>
              <a:t>  for(i=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0</a:t>
            </a:r>
            <a:r>
              <a:rPr lang="pt-PT" b="1" dirty="0">
                <a:latin typeface="Courier New" pitchFamily="49" charset="0"/>
              </a:rPr>
              <a:t>; i&lt;nrows; i++)</a:t>
            </a:r>
          </a:p>
          <a:p>
            <a:r>
              <a:rPr lang="pt-PT" b="1" dirty="0">
                <a:latin typeface="Courier New" pitchFamily="49" charset="0"/>
              </a:rPr>
              <a:t>    M[i] = (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 *</a:t>
            </a:r>
            <a:r>
              <a:rPr lang="pt-PT" b="1" dirty="0">
                <a:latin typeface="Courier New" pitchFamily="49" charset="0"/>
              </a:rPr>
              <a:t>)malloc(ncols*sizeof(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 dirty="0">
                <a:latin typeface="Courier New" pitchFamily="49" charset="0"/>
              </a:rPr>
              <a:t>));</a:t>
            </a:r>
          </a:p>
          <a:p>
            <a:r>
              <a:rPr lang="pt-PT" b="1" dirty="0">
                <a:latin typeface="Courier New" pitchFamily="49" charset="0"/>
              </a:rPr>
              <a:t>  </a:t>
            </a:r>
          </a:p>
          <a:p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  //Agora podemos acessar M[i][j]:</a:t>
            </a:r>
          </a:p>
          <a:p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  // Matriz M na linha i, coluna j.  </a:t>
            </a:r>
          </a:p>
          <a:p>
            <a:r>
              <a:rPr lang="pt-PT" b="1" dirty="0">
                <a:latin typeface="Courier New" pitchFamily="49" charset="0"/>
              </a:rPr>
              <a:t>  ...</a:t>
            </a:r>
          </a:p>
          <a:p>
            <a:r>
              <a:rPr lang="pt-PT" b="1" dirty="0">
                <a:latin typeface="Courier New" pitchFamily="49" charset="0"/>
              </a:rPr>
              <a:t>  return 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0</a:t>
            </a:r>
            <a:r>
              <a:rPr lang="pt-PT" b="1" dirty="0">
                <a:latin typeface="Courier New" pitchFamily="49" charset="0"/>
              </a:rPr>
              <a:t>;</a:t>
            </a:r>
          </a:p>
          <a:p>
            <a:r>
              <a:rPr lang="pt-PT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58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Alocação Dinâmica de Matrizes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 err="1"/>
              <a:t>Desalocar</a:t>
            </a:r>
            <a:r>
              <a:rPr lang="pt-BR" sz="2400" b="1" dirty="0"/>
              <a:t> a memória da matriz: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424114" y="2173288"/>
            <a:ext cx="7272337" cy="4495800"/>
          </a:xfrm>
          <a:prstGeom prst="rect">
            <a:avLst/>
          </a:prstGeom>
          <a:noFill/>
          <a:ln w="9525" cap="rnd">
            <a:solidFill>
              <a:srgbClr val="99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#include &lt;stdio.h&gt;</a:t>
            </a:r>
          </a:p>
          <a:p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#include &lt;stdlib.h&gt;</a:t>
            </a:r>
          </a:p>
          <a:p>
            <a:endParaRPr lang="pt-PT" b="1" dirty="0">
              <a:solidFill>
                <a:srgbClr val="006600"/>
              </a:solidFill>
              <a:latin typeface="Courier New" pitchFamily="49" charset="0"/>
            </a:endParaRPr>
          </a:p>
          <a:p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 dirty="0">
                <a:latin typeface="Courier New" pitchFamily="49" charset="0"/>
              </a:rPr>
              <a:t> main(){</a:t>
            </a:r>
          </a:p>
          <a:p>
            <a:r>
              <a:rPr lang="pt-PT" dirty="0">
                <a:latin typeface="Courier New" pitchFamily="49" charset="0"/>
              </a:rPr>
              <a:t>  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 **</a:t>
            </a:r>
            <a:r>
              <a:rPr lang="pt-PT" b="1" dirty="0">
                <a:latin typeface="Courier New" pitchFamily="49" charset="0"/>
              </a:rPr>
              <a:t>M;</a:t>
            </a:r>
          </a:p>
          <a:p>
            <a:r>
              <a:rPr lang="pt-PT" b="1" dirty="0">
                <a:latin typeface="Courier New" pitchFamily="49" charset="0"/>
              </a:rPr>
              <a:t>  </a:t>
            </a:r>
            <a:r>
              <a:rPr lang="pt-PT" b="1" dirty="0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pt-PT" b="1" dirty="0">
                <a:latin typeface="Courier New" pitchFamily="49" charset="0"/>
              </a:rPr>
              <a:t> i,ncols=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5</a:t>
            </a:r>
            <a:r>
              <a:rPr lang="pt-PT" b="1" dirty="0">
                <a:latin typeface="Courier New" pitchFamily="49" charset="0"/>
              </a:rPr>
              <a:t>,nrows=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6</a:t>
            </a:r>
            <a:r>
              <a:rPr lang="pt-PT" b="1" dirty="0">
                <a:latin typeface="Courier New" pitchFamily="49" charset="0"/>
              </a:rPr>
              <a:t>;</a:t>
            </a:r>
          </a:p>
          <a:p>
            <a:endParaRPr lang="pt-PT" b="1" dirty="0">
              <a:latin typeface="Courier New" pitchFamily="49" charset="0"/>
            </a:endParaRPr>
          </a:p>
          <a:p>
            <a:r>
              <a:rPr lang="pt-PT" b="1" dirty="0">
                <a:latin typeface="Courier New" pitchFamily="49" charset="0"/>
              </a:rPr>
              <a:t>  ...</a:t>
            </a:r>
          </a:p>
          <a:p>
            <a:endParaRPr lang="pt-PT" b="1" dirty="0">
              <a:latin typeface="Courier New" pitchFamily="49" charset="0"/>
            </a:endParaRPr>
          </a:p>
          <a:p>
            <a:r>
              <a:rPr lang="pt-PT" b="1" dirty="0">
                <a:solidFill>
                  <a:schemeClr val="hlink"/>
                </a:solidFill>
                <a:latin typeface="Courier New" pitchFamily="49" charset="0"/>
              </a:rPr>
              <a:t>  </a:t>
            </a:r>
            <a:r>
              <a:rPr lang="pt-PT" b="1" dirty="0">
                <a:solidFill>
                  <a:srgbClr val="006600"/>
                </a:solidFill>
                <a:latin typeface="Courier New" pitchFamily="49" charset="0"/>
              </a:rPr>
              <a:t>//Desaloca memória.</a:t>
            </a:r>
          </a:p>
          <a:p>
            <a:r>
              <a:rPr lang="pt-PT" b="1" dirty="0">
                <a:latin typeface="Courier New" pitchFamily="49" charset="0"/>
              </a:rPr>
              <a:t>  for(i=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0</a:t>
            </a:r>
            <a:r>
              <a:rPr lang="pt-PT" b="1" dirty="0">
                <a:latin typeface="Courier New" pitchFamily="49" charset="0"/>
              </a:rPr>
              <a:t>; i&lt;nrows; i++)</a:t>
            </a:r>
          </a:p>
          <a:p>
            <a:r>
              <a:rPr lang="pt-PT" b="1" dirty="0">
                <a:latin typeface="Courier New" pitchFamily="49" charset="0"/>
              </a:rPr>
              <a:t>    free(M[i]);</a:t>
            </a:r>
          </a:p>
          <a:p>
            <a:r>
              <a:rPr lang="pt-PT" b="1" dirty="0">
                <a:latin typeface="Courier New" pitchFamily="49" charset="0"/>
              </a:rPr>
              <a:t>  free(M);</a:t>
            </a:r>
          </a:p>
          <a:p>
            <a:endParaRPr lang="pt-PT" b="1" dirty="0">
              <a:latin typeface="Courier New" pitchFamily="49" charset="0"/>
            </a:endParaRPr>
          </a:p>
          <a:p>
            <a:r>
              <a:rPr lang="pt-PT" b="1" dirty="0">
                <a:latin typeface="Courier New" pitchFamily="49" charset="0"/>
              </a:rPr>
              <a:t>  return </a:t>
            </a:r>
            <a:r>
              <a:rPr lang="pt-PT" b="1" dirty="0">
                <a:solidFill>
                  <a:srgbClr val="CC0000"/>
                </a:solidFill>
                <a:latin typeface="Courier New" pitchFamily="49" charset="0"/>
              </a:rPr>
              <a:t>0</a:t>
            </a:r>
            <a:r>
              <a:rPr lang="pt-PT" b="1" dirty="0">
                <a:latin typeface="Courier New" pitchFamily="49" charset="0"/>
              </a:rPr>
              <a:t>;</a:t>
            </a:r>
          </a:p>
          <a:p>
            <a:r>
              <a:rPr lang="pt-PT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387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funções: </a:t>
            </a:r>
            <a:r>
              <a:rPr lang="pt-BR" dirty="0" err="1"/>
              <a:t>calloc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void *</a:t>
            </a:r>
            <a:r>
              <a:rPr lang="en-US" b="1" dirty="0" err="1"/>
              <a:t>calloc</a:t>
            </a:r>
            <a:r>
              <a:rPr lang="en-US" b="1" dirty="0"/>
              <a:t>(</a:t>
            </a:r>
            <a:r>
              <a:rPr lang="en-US" b="1" dirty="0" err="1"/>
              <a:t>size_t</a:t>
            </a:r>
            <a:r>
              <a:rPr lang="en-US" b="1" dirty="0"/>
              <a:t> </a:t>
            </a:r>
            <a:r>
              <a:rPr lang="en-US" b="1" dirty="0" err="1"/>
              <a:t>num</a:t>
            </a:r>
            <a:r>
              <a:rPr lang="en-US" b="1" dirty="0"/>
              <a:t>, </a:t>
            </a:r>
            <a:r>
              <a:rPr lang="en-US" b="1" dirty="0" err="1"/>
              <a:t>size_t</a:t>
            </a:r>
            <a:r>
              <a:rPr lang="en-US" b="1" dirty="0"/>
              <a:t> size);</a:t>
            </a:r>
          </a:p>
          <a:p>
            <a:r>
              <a:rPr lang="pt-BR" dirty="0"/>
              <a:t>Reserva espaço na memória para um vetor de </a:t>
            </a:r>
            <a:r>
              <a:rPr lang="pt-BR" sz="2800" dirty="0"/>
              <a:t>num </a:t>
            </a:r>
            <a:r>
              <a:rPr lang="pt-BR" dirty="0"/>
              <a:t>itens do programa. Cada item tem tamanho </a:t>
            </a:r>
            <a:r>
              <a:rPr lang="pt-BR" sz="2800" dirty="0" err="1"/>
              <a:t>size</a:t>
            </a:r>
            <a:r>
              <a:rPr lang="pt-BR" sz="2800" dirty="0"/>
              <a:t> </a:t>
            </a:r>
            <a:r>
              <a:rPr lang="pt-BR" dirty="0"/>
              <a:t>e todos os bits do espaço são inicializados com 0. A função retorna um ponteiro de tipo </a:t>
            </a:r>
            <a:r>
              <a:rPr lang="pt-BR" sz="2800" dirty="0" err="1"/>
              <a:t>void</a:t>
            </a:r>
            <a:r>
              <a:rPr lang="pt-BR" sz="2800" dirty="0"/>
              <a:t> </a:t>
            </a:r>
            <a:r>
              <a:rPr lang="pt-BR" dirty="0"/>
              <a:t>para o espaço reservado ou </a:t>
            </a:r>
            <a:r>
              <a:rPr lang="pt-BR" sz="2800" dirty="0"/>
              <a:t>NULL </a:t>
            </a:r>
            <a:r>
              <a:rPr lang="pt-BR" dirty="0"/>
              <a:t>no caso de algum erro ocorrer.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33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funções: </a:t>
            </a:r>
            <a:r>
              <a:rPr lang="pt-BR" dirty="0" err="1"/>
              <a:t>realloc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void *</a:t>
            </a:r>
            <a:r>
              <a:rPr lang="en-US" b="1" dirty="0" err="1"/>
              <a:t>realloc</a:t>
            </a:r>
            <a:r>
              <a:rPr lang="en-US" b="1" dirty="0"/>
              <a:t>(void *</a:t>
            </a:r>
            <a:r>
              <a:rPr lang="en-US" b="1" dirty="0" err="1"/>
              <a:t>pont</a:t>
            </a:r>
            <a:r>
              <a:rPr lang="en-US" b="1" dirty="0"/>
              <a:t>, </a:t>
            </a:r>
            <a:r>
              <a:rPr lang="en-US" b="1" dirty="0" err="1"/>
              <a:t>size_t</a:t>
            </a:r>
            <a:r>
              <a:rPr lang="en-US" b="1" dirty="0"/>
              <a:t> size);</a:t>
            </a:r>
          </a:p>
          <a:p>
            <a:r>
              <a:rPr lang="pt-BR" dirty="0"/>
              <a:t>A função altera o tamanho do objeto na memória apontado por </a:t>
            </a:r>
            <a:r>
              <a:rPr lang="pt-BR" dirty="0" err="1"/>
              <a:t>pont</a:t>
            </a:r>
            <a:r>
              <a:rPr lang="pt-BR" dirty="0"/>
              <a:t> para o tamanho especificado por </a:t>
            </a:r>
            <a:r>
              <a:rPr lang="pt-BR" dirty="0" err="1"/>
              <a:t>size</a:t>
            </a:r>
            <a:r>
              <a:rPr lang="pt-BR" dirty="0"/>
              <a:t>. O conteúdo do objeto será mantido até um tamanho igual ao menor dos dois tamanhos, novo e antigo. Se o novo tamanho requerer movimento, o espaço reservado anteriormente é liberado. Caso o novo tamanho for maior, o conteúdo da porção de memória reservada a mais ficará com um valor sem especificação.</a:t>
            </a:r>
          </a:p>
          <a:p>
            <a:r>
              <a:rPr lang="pt-BR" dirty="0"/>
              <a:t>Se o tamanho </a:t>
            </a:r>
            <a:r>
              <a:rPr lang="pt-BR" dirty="0" err="1"/>
              <a:t>size</a:t>
            </a:r>
            <a:r>
              <a:rPr lang="pt-BR" dirty="0"/>
              <a:t> for igual a 0 e </a:t>
            </a:r>
            <a:r>
              <a:rPr lang="pt-BR" dirty="0" err="1"/>
              <a:t>pont</a:t>
            </a:r>
            <a:r>
              <a:rPr lang="pt-BR" dirty="0"/>
              <a:t> não é um ponteiro nulo o objeto previamente reservado é liberado.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3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Exercício: 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435280" cy="4525963"/>
          </a:xfrm>
        </p:spPr>
        <p:txBody>
          <a:bodyPr/>
          <a:lstStyle/>
          <a:p>
            <a:r>
              <a:rPr lang="pt-BR" dirty="0"/>
              <a:t>Faça a implementação da função </a:t>
            </a:r>
            <a:r>
              <a:rPr lang="pt-BR" dirty="0" err="1"/>
              <a:t>realloc</a:t>
            </a:r>
            <a:r>
              <a:rPr lang="pt-BR" dirty="0"/>
              <a:t>, você deve utilizar a função </a:t>
            </a:r>
            <a:r>
              <a:rPr lang="pt-BR" dirty="0" err="1"/>
              <a:t>malloc</a:t>
            </a:r>
            <a:r>
              <a:rPr lang="pt-BR" dirty="0"/>
              <a:t> para isso</a:t>
            </a:r>
          </a:p>
          <a:p>
            <a:pPr marL="0" indent="0" algn="ctr">
              <a:buNone/>
            </a:pPr>
            <a:r>
              <a:rPr lang="en-US" sz="2800" b="1" dirty="0"/>
              <a:t>void *</a:t>
            </a:r>
            <a:r>
              <a:rPr lang="en-US" sz="2800" b="1" dirty="0" err="1"/>
              <a:t>realloc</a:t>
            </a:r>
            <a:r>
              <a:rPr lang="en-US" sz="2800" b="1" dirty="0"/>
              <a:t>(void *</a:t>
            </a:r>
            <a:r>
              <a:rPr lang="en-US" sz="2800" b="1" dirty="0" err="1"/>
              <a:t>pont</a:t>
            </a:r>
            <a:r>
              <a:rPr lang="en-US" sz="2800" b="1" dirty="0"/>
              <a:t>, </a:t>
            </a:r>
            <a:r>
              <a:rPr lang="en-US" sz="2800" b="1" dirty="0" err="1"/>
              <a:t>size_t</a:t>
            </a:r>
            <a:r>
              <a:rPr lang="en-US" sz="2800" b="1" dirty="0"/>
              <a:t> </a:t>
            </a:r>
            <a:r>
              <a:rPr lang="en-US" sz="2800" b="1" dirty="0" err="1"/>
              <a:t>newSize</a:t>
            </a:r>
            <a:r>
              <a:rPr lang="en-US" sz="2800" b="1" dirty="0"/>
              <a:t>);</a:t>
            </a:r>
          </a:p>
          <a:p>
            <a:pPr marL="0" indent="0" algn="ctr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sz="2000" b="1" dirty="0" err="1"/>
              <a:t>Dica</a:t>
            </a:r>
            <a:r>
              <a:rPr lang="en-US" sz="2000" b="1" dirty="0"/>
              <a:t>: </a:t>
            </a:r>
            <a:r>
              <a:rPr lang="fr-FR" sz="2000" dirty="0" err="1"/>
              <a:t>void</a:t>
            </a:r>
            <a:r>
              <a:rPr lang="fr-FR" sz="2000" dirty="0"/>
              <a:t> * </a:t>
            </a:r>
            <a:r>
              <a:rPr lang="fr-FR" sz="2000" dirty="0" err="1"/>
              <a:t>memcpy</a:t>
            </a:r>
            <a:r>
              <a:rPr lang="fr-FR" sz="2000" dirty="0"/>
              <a:t> ( </a:t>
            </a:r>
            <a:r>
              <a:rPr lang="fr-FR" sz="2000" dirty="0" err="1"/>
              <a:t>void</a:t>
            </a:r>
            <a:r>
              <a:rPr lang="fr-FR" sz="2000" dirty="0"/>
              <a:t> * destination, </a:t>
            </a:r>
            <a:r>
              <a:rPr lang="fr-FR" sz="2000" dirty="0" err="1"/>
              <a:t>const</a:t>
            </a:r>
            <a:r>
              <a:rPr lang="fr-FR" sz="2000" dirty="0"/>
              <a:t> </a:t>
            </a:r>
            <a:r>
              <a:rPr lang="fr-FR" sz="2000" dirty="0" err="1"/>
              <a:t>void</a:t>
            </a:r>
            <a:r>
              <a:rPr lang="fr-FR" sz="2000" dirty="0"/>
              <a:t> * source, </a:t>
            </a:r>
            <a:r>
              <a:rPr lang="fr-FR" sz="2000" dirty="0" err="1"/>
              <a:t>size_t</a:t>
            </a:r>
            <a:r>
              <a:rPr lang="fr-FR" sz="2000" dirty="0"/>
              <a:t> </a:t>
            </a:r>
            <a:r>
              <a:rPr lang="fr-FR" sz="2000" dirty="0" err="1"/>
              <a:t>num</a:t>
            </a:r>
            <a:r>
              <a:rPr lang="fr-FR" sz="2000" dirty="0"/>
              <a:t> );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8838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Exercício: 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 programa que armazene a informação de várias pessoas.</a:t>
            </a:r>
          </a:p>
          <a:p>
            <a:r>
              <a:rPr lang="pt-BR" dirty="0"/>
              <a:t>O programa só deve sair quando o usuário disser que não deseja mais entrar com os dados de outra pessoa.</a:t>
            </a:r>
          </a:p>
          <a:p>
            <a:r>
              <a:rPr lang="pt-BR" dirty="0"/>
              <a:t> Antes de sair o programa deve apresentar, de forma organizada, os dados de todas as pessoas.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8328248" y="142541"/>
            <a:ext cx="1872208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typedef</a:t>
            </a:r>
            <a:r>
              <a:rPr lang="pt-BR" dirty="0"/>
              <a:t> </a:t>
            </a:r>
            <a:r>
              <a:rPr lang="pt-BR" dirty="0" err="1"/>
              <a:t>struct</a:t>
            </a:r>
            <a:r>
              <a:rPr lang="pt-BR" dirty="0"/>
              <a:t>{</a:t>
            </a:r>
          </a:p>
          <a:p>
            <a:r>
              <a:rPr lang="pt-BR" dirty="0"/>
              <a:t>   char nome[30];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>   </a:t>
            </a:r>
            <a:r>
              <a:rPr lang="pt-BR" dirty="0" err="1"/>
              <a:t>int</a:t>
            </a:r>
            <a:r>
              <a:rPr lang="pt-BR" dirty="0"/>
              <a:t> altura;</a:t>
            </a:r>
          </a:p>
          <a:p>
            <a:r>
              <a:rPr lang="pt-BR" dirty="0"/>
              <a:t>}Pessoa;</a:t>
            </a:r>
          </a:p>
        </p:txBody>
      </p:sp>
      <p:cxnSp>
        <p:nvCxnSpPr>
          <p:cNvPr id="6" name="Conector reto 5"/>
          <p:cNvCxnSpPr/>
          <p:nvPr/>
        </p:nvCxnSpPr>
        <p:spPr>
          <a:xfrm>
            <a:off x="7608168" y="2420888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 flipV="1">
            <a:off x="8832304" y="1619870"/>
            <a:ext cx="0" cy="8010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Flags</a:t>
            </a:r>
            <a:r>
              <a:rPr lang="pt-BR" dirty="0"/>
              <a:t> de compilação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-Wall</a:t>
            </a:r>
          </a:p>
          <a:p>
            <a:pPr lvl="1"/>
            <a:r>
              <a:rPr lang="pt-BR" dirty="0"/>
              <a:t>Todos os </a:t>
            </a:r>
            <a:r>
              <a:rPr lang="pt-BR" dirty="0" err="1"/>
              <a:t>warnings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4428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Exercício: 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dirty="0"/>
              <a:t>Implementar em C um programa que utilize uma matriz com vetor de ponteiros e que ofereça as seguintes opções para o usuário:</a:t>
            </a:r>
          </a:p>
          <a:p>
            <a:pPr marL="0" indent="0">
              <a:buNone/>
            </a:pPr>
            <a:r>
              <a:rPr lang="pt-BR" dirty="0"/>
              <a:t>	1) Criar e </a:t>
            </a:r>
            <a:r>
              <a:rPr lang="pt-BR" dirty="0" err="1"/>
              <a:t>redimencionar</a:t>
            </a:r>
            <a:r>
              <a:rPr lang="pt-BR" dirty="0"/>
              <a:t> uma matriz m x n, onde n e m são fornecidos pelo usuário;</a:t>
            </a:r>
          </a:p>
          <a:p>
            <a:pPr marL="0" indent="0">
              <a:buNone/>
            </a:pPr>
            <a:r>
              <a:rPr lang="pt-BR" dirty="0"/>
              <a:t>	2) Realizar a leitura dos elementos da matriz;</a:t>
            </a:r>
          </a:p>
          <a:p>
            <a:pPr marL="0" indent="0">
              <a:buNone/>
            </a:pPr>
            <a:r>
              <a:rPr lang="pt-BR" dirty="0"/>
              <a:t>	3) Fornecer a soma dos elementos da matriz;</a:t>
            </a:r>
          </a:p>
          <a:p>
            <a:pPr marL="0" indent="0">
              <a:buNone/>
            </a:pPr>
            <a:r>
              <a:rPr lang="pt-BR" dirty="0"/>
              <a:t>	4) Retornar em um vetor (utilizando ponteiros) os elementos de uma determinada coluna da matriz;</a:t>
            </a:r>
          </a:p>
          <a:p>
            <a:pPr marL="0" indent="0">
              <a:buNone/>
            </a:pPr>
            <a:r>
              <a:rPr lang="pt-BR" dirty="0"/>
              <a:t>	5) Imprimir a matriz</a:t>
            </a:r>
          </a:p>
          <a:p>
            <a:pPr marL="0" indent="0">
              <a:buNone/>
            </a:pPr>
            <a:r>
              <a:rPr lang="pt-BR" dirty="0"/>
              <a:t>	6) Sair do programa</a:t>
            </a:r>
          </a:p>
          <a:p>
            <a:pPr marL="0" indent="0">
              <a:buNone/>
            </a:pPr>
            <a:r>
              <a:rPr lang="pt-BR" b="1" dirty="0"/>
              <a:t>Observações:</a:t>
            </a:r>
          </a:p>
          <a:p>
            <a:pPr marL="0" indent="0">
              <a:buNone/>
            </a:pPr>
            <a:r>
              <a:rPr lang="pt-BR" dirty="0"/>
              <a:t>1) A matriz deve ser alocada dinamicamente no programa por meio do uso da função </a:t>
            </a:r>
            <a:r>
              <a:rPr lang="pt-BR" dirty="0" err="1"/>
              <a:t>malloc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2) O programa deve ser modularizado e utilizar os seguintes protótipos de </a:t>
            </a:r>
            <a:r>
              <a:rPr lang="pt-BR" dirty="0" err="1"/>
              <a:t>subalgoritmos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	a. </a:t>
            </a:r>
            <a:r>
              <a:rPr lang="pt-BR" dirty="0" err="1"/>
              <a:t>int</a:t>
            </a:r>
            <a:r>
              <a:rPr lang="pt-BR" dirty="0"/>
              <a:t> ** </a:t>
            </a:r>
            <a:r>
              <a:rPr lang="pt-BR" dirty="0" err="1"/>
              <a:t>criaMatriz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n)</a:t>
            </a:r>
          </a:p>
          <a:p>
            <a:pPr marL="0" indent="0">
              <a:buNone/>
            </a:pPr>
            <a:r>
              <a:rPr lang="pt-BR" dirty="0"/>
              <a:t>	b.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leiaMatriz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**</a:t>
            </a:r>
            <a:r>
              <a:rPr lang="pt-BR" dirty="0" err="1"/>
              <a:t>mat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n)</a:t>
            </a:r>
          </a:p>
          <a:p>
            <a:pPr marL="0" indent="0">
              <a:buNone/>
            </a:pPr>
            <a:r>
              <a:rPr lang="pt-BR" dirty="0"/>
              <a:t>	c.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somaMatriz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**</a:t>
            </a:r>
            <a:r>
              <a:rPr lang="pt-BR" dirty="0" err="1"/>
              <a:t>mat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n) }</a:t>
            </a:r>
          </a:p>
          <a:p>
            <a:pPr marL="0" indent="0">
              <a:buNone/>
            </a:pPr>
            <a:r>
              <a:rPr lang="pt-BR" dirty="0"/>
              <a:t>	d. </a:t>
            </a:r>
            <a:r>
              <a:rPr lang="pt-BR" dirty="0" err="1"/>
              <a:t>int</a:t>
            </a:r>
            <a:r>
              <a:rPr lang="pt-BR" dirty="0"/>
              <a:t>* </a:t>
            </a:r>
            <a:r>
              <a:rPr lang="pt-BR" dirty="0" err="1"/>
              <a:t>colunaMatriz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** </a:t>
            </a:r>
            <a:r>
              <a:rPr lang="pt-BR" dirty="0" err="1"/>
              <a:t>mat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n,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ncoluna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	e.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liberaMatriz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**</a:t>
            </a:r>
            <a:r>
              <a:rPr lang="pt-BR" dirty="0" err="1"/>
              <a:t>mat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ncoluna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	f.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imprimeMatriz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**</a:t>
            </a:r>
            <a:r>
              <a:rPr lang="pt-BR" dirty="0" err="1"/>
              <a:t>mat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n)</a:t>
            </a:r>
          </a:p>
          <a:p>
            <a:pPr marL="0" indent="0">
              <a:buNone/>
            </a:pPr>
            <a:r>
              <a:rPr lang="pt-BR" dirty="0"/>
              <a:t>	g.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imprimeVetor</a:t>
            </a:r>
            <a:r>
              <a:rPr lang="pt-BR" dirty="0"/>
              <a:t> (</a:t>
            </a:r>
            <a:r>
              <a:rPr lang="pt-BR" dirty="0" err="1"/>
              <a:t>int</a:t>
            </a:r>
            <a:r>
              <a:rPr lang="pt-BR" dirty="0"/>
              <a:t> *</a:t>
            </a:r>
            <a:r>
              <a:rPr lang="pt-BR" dirty="0" err="1"/>
              <a:t>vet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n) { }</a:t>
            </a:r>
          </a:p>
          <a:p>
            <a:pPr marL="0" indent="0">
              <a:buNone/>
            </a:pPr>
            <a:r>
              <a:rPr lang="pt-BR" dirty="0"/>
              <a:t>3) O </a:t>
            </a:r>
            <a:r>
              <a:rPr lang="pt-BR" dirty="0" err="1"/>
              <a:t>subalgoritmo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* </a:t>
            </a:r>
            <a:r>
              <a:rPr lang="pt-BR" dirty="0" err="1"/>
              <a:t>colunaMatriz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** </a:t>
            </a:r>
            <a:r>
              <a:rPr lang="pt-BR" dirty="0" err="1"/>
              <a:t>mat</a:t>
            </a:r>
            <a:r>
              <a:rPr lang="pt-BR" dirty="0"/>
              <a:t>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n,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ncoluna</a:t>
            </a:r>
            <a:r>
              <a:rPr lang="pt-BR" dirty="0"/>
              <a:t>) deve criar um novo vetor (ponteiro para</a:t>
            </a:r>
          </a:p>
          <a:p>
            <a:pPr marL="0" indent="0">
              <a:buNone/>
            </a:pPr>
            <a:r>
              <a:rPr lang="pt-BR" dirty="0"/>
              <a:t>vetor) e retornar o mesmo para o programa principal que será responsável pela impressão dos valores a partir</a:t>
            </a:r>
          </a:p>
          <a:p>
            <a:pPr marL="0" indent="0">
              <a:buNone/>
            </a:pPr>
            <a:r>
              <a:rPr lang="pt-BR" dirty="0"/>
              <a:t>da chamada de </a:t>
            </a:r>
            <a:r>
              <a:rPr lang="pt-BR" b="1" dirty="0" err="1"/>
              <a:t>void</a:t>
            </a:r>
            <a:r>
              <a:rPr lang="pt-BR" b="1" dirty="0"/>
              <a:t> </a:t>
            </a:r>
            <a:r>
              <a:rPr lang="pt-BR" b="1" dirty="0" err="1"/>
              <a:t>imprimeVet</a:t>
            </a:r>
            <a:r>
              <a:rPr lang="pt-BR" b="1" dirty="0"/>
              <a:t>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b="1" dirty="0" err="1"/>
              <a:t>vet</a:t>
            </a:r>
            <a:r>
              <a:rPr lang="pt-BR" b="1" dirty="0"/>
              <a:t>, </a:t>
            </a:r>
            <a:r>
              <a:rPr lang="pt-BR" b="1" dirty="0" err="1"/>
              <a:t>int</a:t>
            </a:r>
            <a:r>
              <a:rPr lang="pt-BR" b="1" dirty="0"/>
              <a:t> n) { }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3215680" y="6021288"/>
            <a:ext cx="4968552" cy="5760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Cuidado com os </a:t>
            </a:r>
            <a:r>
              <a:rPr lang="pt-BR" dirty="0" err="1"/>
              <a:t>memory</a:t>
            </a:r>
            <a:r>
              <a:rPr lang="pt-BR" dirty="0"/>
              <a:t> </a:t>
            </a:r>
            <a:r>
              <a:rPr lang="pt-BR" dirty="0" err="1"/>
              <a:t>leaks</a:t>
            </a:r>
            <a:r>
              <a:rPr lang="pt-B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4721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hlinkClick r:id="rId2"/>
              </a:rPr>
              <a:t>https://www.youtube.com/results?search_query=stack+heap+c</a:t>
            </a:r>
            <a:endParaRPr lang="pt-BR" sz="2000" dirty="0"/>
          </a:p>
          <a:p>
            <a:r>
              <a:rPr lang="pt-BR" sz="2000" dirty="0">
                <a:hlinkClick r:id="rId3"/>
              </a:rPr>
              <a:t>https://www.youtube.com/results?search_query=malloc+c</a:t>
            </a:r>
            <a:endParaRPr lang="pt-BR" sz="2000" dirty="0"/>
          </a:p>
          <a:p>
            <a:endParaRPr lang="pt-BR" sz="2000" dirty="0">
              <a:hlinkClick r:id="rId4"/>
            </a:endParaRPr>
          </a:p>
          <a:p>
            <a:r>
              <a:rPr lang="pt-BR" sz="2000" dirty="0">
                <a:hlinkClick r:id="rId4"/>
              </a:rPr>
              <a:t>https://programacaodescomplicada.wordpress.com/</a:t>
            </a:r>
          </a:p>
          <a:p>
            <a:pPr lvl="1"/>
            <a:r>
              <a:rPr lang="pt-BR" sz="1600" dirty="0">
                <a:hlinkClick r:id="rId4"/>
              </a:rPr>
              <a:t>https://www.youtube.com/user/progdescomplicada/playlists</a:t>
            </a:r>
            <a:endParaRPr lang="pt-BR" sz="1600" dirty="0"/>
          </a:p>
          <a:p>
            <a:pPr lvl="1"/>
            <a:r>
              <a:rPr lang="pt-BR" sz="1600" dirty="0"/>
              <a:t>Lembrem desses links durante todo o semestre!</a:t>
            </a:r>
          </a:p>
          <a:p>
            <a:pPr lvl="1"/>
            <a:r>
              <a:rPr lang="pt-BR" sz="1600" dirty="0"/>
              <a:t>Procurem na </a:t>
            </a:r>
            <a:r>
              <a:rPr lang="pt-BR" sz="1600" dirty="0" err="1"/>
              <a:t>playlist</a:t>
            </a:r>
            <a:r>
              <a:rPr lang="pt-BR" sz="1600" dirty="0"/>
              <a:t> e no menu do site os tópicos de interesse.</a:t>
            </a:r>
          </a:p>
        </p:txBody>
      </p:sp>
    </p:spTree>
    <p:extLst>
      <p:ext uri="{BB962C8B-B14F-4D97-AF65-F5344CB8AC3E}">
        <p14:creationId xmlns:p14="http://schemas.microsoft.com/office/powerpoint/2010/main" val="2476263551"/>
      </p:ext>
    </p:extLst>
  </p:cSld>
  <p:clrMapOvr>
    <a:masterClrMapping/>
  </p:clrMapOvr>
</p:sld>
</file>

<file path=ppt/theme/theme1.xml><?xml version="1.0" encoding="utf-8"?>
<a:theme xmlns:a="http://schemas.openxmlformats.org/drawingml/2006/main" name="au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aula1 - Introdução</Template>
  <TotalTime>9713</TotalTime>
  <Words>2928</Words>
  <Application>Microsoft Office PowerPoint</Application>
  <PresentationFormat>Widescreen</PresentationFormat>
  <Paragraphs>491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Futura Md BT</vt:lpstr>
      <vt:lpstr>Trebuchet MS</vt:lpstr>
      <vt:lpstr>aula</vt:lpstr>
      <vt:lpstr>Estrutura de Dados I Hoje: Alocação dinâmica de memória</vt:lpstr>
      <vt:lpstr>Alocação Dinâmica de Memória</vt:lpstr>
      <vt:lpstr>Alocação Dinâmica de Memória</vt:lpstr>
      <vt:lpstr>Vamos simplificar por agora!</vt:lpstr>
      <vt:lpstr>Alocação Estática de Memória</vt:lpstr>
      <vt:lpstr>Alocação Dinâmica de Memória</vt:lpstr>
      <vt:lpstr>Alocação Dinâmica de Memória</vt:lpstr>
      <vt:lpstr>Alocação Dinâmica de Memória</vt:lpstr>
      <vt:lpstr>Alocação Dinâmica de Memória</vt:lpstr>
      <vt:lpstr>Liberando Memória</vt:lpstr>
      <vt:lpstr>Falta de Memória</vt:lpstr>
      <vt:lpstr>Casting</vt:lpstr>
      <vt:lpstr>Structs</vt:lpstr>
      <vt:lpstr>Structs</vt:lpstr>
      <vt:lpstr>Structs</vt:lpstr>
      <vt:lpstr>String</vt:lpstr>
      <vt:lpstr>Alocação Dinâmica de Matrizes</vt:lpstr>
      <vt:lpstr>Alocação Dinâmica de Matrizes</vt:lpstr>
      <vt:lpstr>Alocação Dinâmica de Matrizes</vt:lpstr>
      <vt:lpstr>Alocação Dinâmica de Matrizes</vt:lpstr>
      <vt:lpstr>Alocação Dinâmica de Matrizes</vt:lpstr>
      <vt:lpstr>Alocação Dinâmica de Matrizes</vt:lpstr>
      <vt:lpstr>Alocação Dinâmica de Matrizes</vt:lpstr>
      <vt:lpstr>Alocação Dinâmica de Matrizes</vt:lpstr>
      <vt:lpstr>Outras funções: calloc</vt:lpstr>
      <vt:lpstr>Outras funções: realloc</vt:lpstr>
      <vt:lpstr>Exercício: 4</vt:lpstr>
      <vt:lpstr>Exercício: 5</vt:lpstr>
      <vt:lpstr>Flags de compilação </vt:lpstr>
      <vt:lpstr>Exercício: 6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Programação</dc:title>
  <dc:creator>Toto</dc:creator>
  <cp:lastModifiedBy>Rafael Torchelsen</cp:lastModifiedBy>
  <cp:revision>205</cp:revision>
  <dcterms:created xsi:type="dcterms:W3CDTF">2011-01-25T18:04:27Z</dcterms:created>
  <dcterms:modified xsi:type="dcterms:W3CDTF">2025-10-09T18:37:31Z</dcterms:modified>
</cp:coreProperties>
</file>